
<file path=[Content_Types].xml><?xml version="1.0" encoding="utf-8"?>
<Types xmlns="http://schemas.openxmlformats.org/package/2006/content-types">
  <Default Extension="xlsb" ContentType="application/vnd.ms-excel.sheet.binary.macroEnabled.12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3" r:id="rId3"/>
  </p:sldIdLst>
  <p:sldSz cx="12192000" cy="6858000"/>
  <p:notesSz cx="6889750" cy="10018395"/>
  <p:embeddedFontLst>
    <p:embeddedFont>
      <p:font typeface="Roboto" panose="02000000000000000000"/>
      <p:regular r:id="rId9"/>
    </p:embeddedFont>
    <p:embeddedFont>
      <p:font typeface="Helvetica Neue" panose="02000503000000020004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F200F5-5327-451D-88F7-358901D9561F}" styleName="Table_0">
    <a:wholeTbl>
      <a:tcTxStyle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37058513442277"/>
          <c:y val="0.0403413498836307"/>
          <c:w val="0.972588297311545"/>
          <c:h val="0.919317300232739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E21409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4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Pt>
            <c:idx val="5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E21409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Sheet1!$A$1:$F$1</c:f>
              <c:numCache>
                <c:formatCode>General</c:formatCode>
                <c:ptCount val="6"/>
                <c:pt idx="0">
                  <c:v>35</c:v>
                </c:pt>
                <c:pt idx="1">
                  <c:v>28</c:v>
                </c:pt>
                <c:pt idx="2">
                  <c:v>32</c:v>
                </c:pt>
                <c:pt idx="3">
                  <c:v>27</c:v>
                </c:pt>
                <c:pt idx="4">
                  <c:v>27</c:v>
                </c:pt>
                <c:pt idx="5">
                  <c:v>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62170271"/>
        <c:axId val="1"/>
      </c:lineChart>
      <c:catAx>
        <c:axId val="1662170271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rgbClr val="FBFBF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"/>
          <c:min val="27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662170271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394d35eb-9df2-4989-8b0f-b21e0d227cd4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0682261208577"/>
          <c:y val="0.153846153846154"/>
          <c:w val="0.898635477582846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70AD46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70AD46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70AD46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70AD46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70AD46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41</c:v>
                </c:pt>
                <c:pt idx="1">
                  <c:v>29</c:v>
                </c:pt>
                <c:pt idx="2">
                  <c:v>30</c:v>
                </c:pt>
                <c:pt idx="3">
                  <c:v>37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577392"/>
        <c:axId val="1"/>
      </c:lineChart>
      <c:catAx>
        <c:axId val="9757739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4"/>
          <c:min val="29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57739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8415c844-5511-43fe-b17e-74b3e52d947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0682261208577"/>
          <c:y val="0.153846153846154"/>
          <c:w val="0.898635477582846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FFD965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FFD965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FFD965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FFD965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FFD965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50</c:v>
                </c:pt>
                <c:pt idx="1">
                  <c:v>69</c:v>
                </c:pt>
                <c:pt idx="2">
                  <c:v>67</c:v>
                </c:pt>
                <c:pt idx="3">
                  <c:v>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591792"/>
        <c:axId val="1"/>
      </c:lineChart>
      <c:catAx>
        <c:axId val="9759179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"/>
          <c:min val="5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59179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29376b04-1cc3-4fa9-a3d6-d1c931618a4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0682261208577"/>
          <c:y val="0.153846153846154"/>
          <c:w val="0.898635477582846"/>
          <c:h val="0.692307692307692"/>
        </c:manualLayout>
      </c:layout>
      <c:lineChart>
        <c:grouping val="standard"/>
        <c:varyColors val="0"/>
        <c:ser>
          <c:idx val="0"/>
          <c:order val="0"/>
          <c:spPr>
            <a:ln w="28575" cap="rnd" cmpd="sng" algn="ctr">
              <a:solidFill>
                <a:srgbClr val="C2083B"/>
              </a:solidFill>
              <a:prstDash val="solid"/>
              <a:round/>
            </a:ln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C2083B"/>
                  </a:solidFill>
                  <a:prstDash val="solid"/>
                  <a:round/>
                </a:ln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C2083B"/>
                  </a:solidFill>
                  <a:prstDash val="solid"/>
                  <a:round/>
                </a:ln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C2083B"/>
                  </a:solidFill>
                  <a:prstDash val="solid"/>
                  <a:round/>
                </a:ln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ap="flat" cmpd="sng" algn="ctr">
                  <a:solidFill>
                    <a:srgbClr val="C2083B"/>
                  </a:solidFill>
                  <a:prstDash val="solid"/>
                  <a:round/>
                </a:ln>
              </c:spPr>
            </c:marker>
            <c:bubble3D val="0"/>
          </c:dPt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9</c:v>
                </c:pt>
                <c:pt idx="1">
                  <c:v>2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586032"/>
        <c:axId val="1"/>
      </c:lineChart>
      <c:catAx>
        <c:axId val="9758603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bg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"/>
          <c:min val="2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7586032"/>
        <c:crosses val="min"/>
        <c:crossBetween val="midCat"/>
      </c:valAx>
    </c:plotArea>
    <c:plotVisOnly val="0"/>
    <c:dispBlanksAs val="gap"/>
    <c:showDLblsOverMax val="1"/>
    <c:extLst>
      <c:ext uri="{0b15fc19-7d7d-44ad-8c2d-2c3a37ce22c3}">
        <chartProps xmlns="https://web.wps.cn/et/2018/main" chartId="{d27e702c-9f60-43a6-8459-959779cf108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6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6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15736"/>
            <a:ext cx="2985558" cy="502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02597" y="9515736"/>
            <a:ext cx="2985558" cy="502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918634" y="4758889"/>
            <a:ext cx="5052483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300" rIns="96600" bIns="483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8:notes"/>
          <p:cNvSpPr/>
          <p:nvPr>
            <p:ph type="sldImg" idx="2"/>
          </p:nvPr>
        </p:nvSpPr>
        <p:spPr>
          <a:xfrm>
            <a:off x="104775" y="750888"/>
            <a:ext cx="6680200" cy="375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18:notes"/>
          <p:cNvSpPr txBox="1"/>
          <p:nvPr>
            <p:ph type="body" idx="1"/>
          </p:nvPr>
        </p:nvSpPr>
        <p:spPr>
          <a:xfrm>
            <a:off x="918634" y="4758889"/>
            <a:ext cx="5052483" cy="45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48300" rIns="96600" bIns="483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85" name="Google Shape;585;p18:notes"/>
          <p:cNvSpPr txBox="1"/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bg>
      <p:bgPr>
        <a:solidFill>
          <a:srgbClr val="161616"/>
        </a:solidFill>
        <a:effectLst/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0" descr="Immagine che contiene cerchio, Elementi grafici, schermata, Policromia&#10;&#10;Descrizione generata automa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701" y="5015188"/>
            <a:ext cx="392365" cy="392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60"/>
          <p:cNvGrpSpPr/>
          <p:nvPr/>
        </p:nvGrpSpPr>
        <p:grpSpPr>
          <a:xfrm>
            <a:off x="1261502" y="4926363"/>
            <a:ext cx="1903939" cy="570014"/>
            <a:chOff x="1660200" y="4808813"/>
            <a:chExt cx="1903939" cy="570014"/>
          </a:xfrm>
        </p:grpSpPr>
        <p:sp>
          <p:nvSpPr>
            <p:cNvPr id="34" name="Google Shape;34;p60"/>
            <p:cNvSpPr txBox="1"/>
            <p:nvPr/>
          </p:nvSpPr>
          <p:spPr>
            <a:xfrm>
              <a:off x="1660200" y="4808813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Lenovo Laptop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5" name="Google Shape;35;p60"/>
            <p:cNvSpPr txBox="1"/>
            <p:nvPr/>
          </p:nvSpPr>
          <p:spPr>
            <a:xfrm>
              <a:off x="1660200" y="5101832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France – August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36" name="Google Shape;36;p6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50381" y="1470283"/>
            <a:ext cx="1364163" cy="43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60" descr="logo_full_rtbh_whit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2263" y="1361623"/>
            <a:ext cx="2347896" cy="60738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0"/>
          <p:cNvSpPr txBox="1"/>
          <p:nvPr/>
        </p:nvSpPr>
        <p:spPr>
          <a:xfrm>
            <a:off x="3206039" y="1665315"/>
            <a:ext cx="358100" cy="255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25" rIns="0" bIns="0" anchor="t" anchorCtr="0">
            <a:spAutoFit/>
          </a:bodyPr>
          <a:lstStyle/>
          <a:p>
            <a:pPr marL="7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 panose="020B0604020202090204"/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for</a:t>
            </a:r>
            <a:endParaRPr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9" name="Google Shape;39;p60"/>
          <p:cNvSpPr txBox="1"/>
          <p:nvPr/>
        </p:nvSpPr>
        <p:spPr>
          <a:xfrm>
            <a:off x="243983" y="6585712"/>
            <a:ext cx="411587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75899" y="861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1" descr="Shape&#10;&#10;Description automatically generated with medium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1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44" name="Google Shape;44;p61"/>
          <p:cNvSpPr txBox="1"/>
          <p:nvPr/>
        </p:nvSpPr>
        <p:spPr>
          <a:xfrm>
            <a:off x="564225" y="6505218"/>
            <a:ext cx="241187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nth">
  <p:cSld name="Month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2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2"/>
          <p:cNvSpPr txBox="1"/>
          <p:nvPr/>
        </p:nvSpPr>
        <p:spPr>
          <a:xfrm>
            <a:off x="517887" y="6273220"/>
            <a:ext cx="32796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10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results shown refer to August 2025.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8" name="Google Shape;48;p62"/>
          <p:cNvSpPr txBox="1"/>
          <p:nvPr/>
        </p:nvSpPr>
        <p:spPr>
          <a:xfrm>
            <a:off x="564225" y="6505218"/>
            <a:ext cx="241187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9" name="Google Shape;49;p62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50" name="Google Shape;50;p6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575899" y="86183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Appendix">
  <p:cSld name="5_Appendix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3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3" name="Google Shape;53;p63"/>
          <p:cNvSpPr txBox="1"/>
          <p:nvPr/>
        </p:nvSpPr>
        <p:spPr>
          <a:xfrm>
            <a:off x="564225" y="6505218"/>
            <a:ext cx="2412773" cy="2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4" name="Google Shape;54;p63"/>
          <p:cNvSpPr/>
          <p:nvPr/>
        </p:nvSpPr>
        <p:spPr>
          <a:xfrm>
            <a:off x="293955" y="3274614"/>
            <a:ext cx="11638654" cy="612000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5" name="Google Shape;55;p63"/>
          <p:cNvSpPr/>
          <p:nvPr/>
        </p:nvSpPr>
        <p:spPr>
          <a:xfrm>
            <a:off x="293955" y="4649796"/>
            <a:ext cx="11638654" cy="612000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pic>
        <p:nvPicPr>
          <p:cNvPr id="56" name="Google Shape;56;p63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3"/>
          <p:cNvSpPr/>
          <p:nvPr/>
        </p:nvSpPr>
        <p:spPr>
          <a:xfrm>
            <a:off x="0" y="0"/>
            <a:ext cx="12186378" cy="3077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TOP 5 WITHOUT AFFILIATED INFLUENCERS AND OFFICIAL ACCOUNTS</a:t>
            </a:r>
            <a:endParaRPr sz="14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58" name="Google Shape;58;p63"/>
          <p:cNvGrpSpPr/>
          <p:nvPr/>
        </p:nvGrpSpPr>
        <p:grpSpPr>
          <a:xfrm>
            <a:off x="112896" y="0"/>
            <a:ext cx="1015042" cy="411927"/>
            <a:chOff x="2138002" y="1392870"/>
            <a:chExt cx="1189608" cy="439367"/>
          </a:xfrm>
        </p:grpSpPr>
        <p:sp>
          <p:nvSpPr>
            <p:cNvPr id="59" name="Google Shape;59;p63"/>
            <p:cNvSpPr/>
            <p:nvPr/>
          </p:nvSpPr>
          <p:spPr>
            <a:xfrm>
              <a:off x="2138002" y="1392870"/>
              <a:ext cx="1189608" cy="43936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60" name="Google Shape;60;p6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280307" y="1464084"/>
              <a:ext cx="904998" cy="301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63"/>
          <p:cNvSpPr txBox="1"/>
          <p:nvPr/>
        </p:nvSpPr>
        <p:spPr>
          <a:xfrm>
            <a:off x="889000" y="1882125"/>
            <a:ext cx="747713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Author*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2" name="Google Shape;62;p63"/>
          <p:cNvSpPr txBox="1"/>
          <p:nvPr/>
        </p:nvSpPr>
        <p:spPr>
          <a:xfrm>
            <a:off x="2245576" y="1882125"/>
            <a:ext cx="74918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Channel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3" name="Google Shape;63;p63"/>
          <p:cNvSpPr txBox="1"/>
          <p:nvPr/>
        </p:nvSpPr>
        <p:spPr>
          <a:xfrm>
            <a:off x="3603625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Posts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4" name="Google Shape;64;p63"/>
          <p:cNvSpPr txBox="1"/>
          <p:nvPr/>
        </p:nvSpPr>
        <p:spPr>
          <a:xfrm>
            <a:off x="5699919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Sentiment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5" name="Google Shape;65;p63"/>
          <p:cNvSpPr txBox="1"/>
          <p:nvPr/>
        </p:nvSpPr>
        <p:spPr>
          <a:xfrm>
            <a:off x="7796213" y="1882125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Reach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6" name="Google Shape;66;p63"/>
          <p:cNvSpPr txBox="1"/>
          <p:nvPr/>
        </p:nvSpPr>
        <p:spPr>
          <a:xfrm>
            <a:off x="9066213" y="1882125"/>
            <a:ext cx="9017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7" name="Google Shape;67;p63"/>
          <p:cNvSpPr txBox="1"/>
          <p:nvPr/>
        </p:nvSpPr>
        <p:spPr>
          <a:xfrm>
            <a:off x="10537825" y="1805181"/>
            <a:ext cx="968375" cy="40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 impact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8" name="Google Shape;68;p63"/>
          <p:cNvSpPr txBox="1"/>
          <p:nvPr/>
        </p:nvSpPr>
        <p:spPr>
          <a:xfrm>
            <a:off x="7796213" y="1287108"/>
            <a:ext cx="749300" cy="50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of people reached by author</a:t>
            </a:r>
            <a:endParaRPr sz="900" b="0" i="0" u="none" strike="noStrike" cap="none">
              <a:solidFill>
                <a:srgbClr val="535353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9" name="Google Shape;69;p63"/>
          <p:cNvSpPr txBox="1"/>
          <p:nvPr/>
        </p:nvSpPr>
        <p:spPr>
          <a:xfrm>
            <a:off x="9028113" y="1287108"/>
            <a:ext cx="977900" cy="36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n. of interactions per author</a:t>
            </a:r>
            <a:endParaRPr sz="900" b="0" i="0" u="none" strike="noStrike" cap="none">
              <a:solidFill>
                <a:srgbClr val="535353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0" name="Google Shape;70;p63"/>
          <p:cNvSpPr txBox="1"/>
          <p:nvPr/>
        </p:nvSpPr>
        <p:spPr>
          <a:xfrm>
            <a:off x="10488613" y="1210164"/>
            <a:ext cx="1066800" cy="50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53535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engagement of the author on the overall brand eng.</a:t>
            </a:r>
            <a:endParaRPr sz="900" b="1" i="0" u="none" strike="noStrike" cap="none">
              <a:solidFill>
                <a:srgbClr val="3E3E3E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ppendix">
  <p:cSld name="6_Appendix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4"/>
          <p:cNvSpPr txBox="1"/>
          <p:nvPr/>
        </p:nvSpPr>
        <p:spPr>
          <a:xfrm>
            <a:off x="204521" y="6459090"/>
            <a:ext cx="237244" cy="22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 panose="02000000000000000000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fld>
            <a:endParaRPr sz="8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3" name="Google Shape;73;p64"/>
          <p:cNvSpPr txBox="1"/>
          <p:nvPr/>
        </p:nvSpPr>
        <p:spPr>
          <a:xfrm>
            <a:off x="564225" y="6505218"/>
            <a:ext cx="2412773" cy="24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BBBBBB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4" name="Google Shape;74;p64" descr="Shape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0105" y="6564913"/>
            <a:ext cx="908706" cy="23562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4"/>
          <p:cNvSpPr/>
          <p:nvPr/>
        </p:nvSpPr>
        <p:spPr>
          <a:xfrm>
            <a:off x="0" y="0"/>
            <a:ext cx="12186378" cy="3077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 panose="020B0604020202090204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</a:t>
            </a:r>
            <a:endParaRPr sz="14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6" name="Google Shape;76;p64"/>
          <p:cNvGrpSpPr/>
          <p:nvPr/>
        </p:nvGrpSpPr>
        <p:grpSpPr>
          <a:xfrm>
            <a:off x="112896" y="0"/>
            <a:ext cx="1015042" cy="411927"/>
            <a:chOff x="2138002" y="1392870"/>
            <a:chExt cx="1189608" cy="439367"/>
          </a:xfrm>
        </p:grpSpPr>
        <p:sp>
          <p:nvSpPr>
            <p:cNvPr id="77" name="Google Shape;77;p64"/>
            <p:cNvSpPr/>
            <p:nvPr/>
          </p:nvSpPr>
          <p:spPr>
            <a:xfrm>
              <a:off x="2138002" y="1392870"/>
              <a:ext cx="1189608" cy="43936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rgbClr val="F2F2F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pic>
          <p:nvPicPr>
            <p:cNvPr id="78" name="Google Shape;78;p6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280307" y="1464084"/>
              <a:ext cx="904998" cy="3016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64"/>
          <p:cNvSpPr/>
          <p:nvPr/>
        </p:nvSpPr>
        <p:spPr>
          <a:xfrm>
            <a:off x="293955" y="2952750"/>
            <a:ext cx="11638654" cy="611188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0" name="Google Shape;80;p64"/>
          <p:cNvSpPr/>
          <p:nvPr/>
        </p:nvSpPr>
        <p:spPr>
          <a:xfrm>
            <a:off x="293955" y="4479925"/>
            <a:ext cx="11638654" cy="612775"/>
          </a:xfrm>
          <a:prstGeom prst="rect">
            <a:avLst/>
          </a:prstGeom>
          <a:solidFill>
            <a:srgbClr val="F3F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1" name="Google Shape;81;p64"/>
          <p:cNvSpPr txBox="1"/>
          <p:nvPr/>
        </p:nvSpPr>
        <p:spPr>
          <a:xfrm>
            <a:off x="889000" y="1357027"/>
            <a:ext cx="747713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Author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2" name="Google Shape;82;p64"/>
          <p:cNvSpPr txBox="1"/>
          <p:nvPr/>
        </p:nvSpPr>
        <p:spPr>
          <a:xfrm>
            <a:off x="4463706" y="1357027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 1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3" name="Google Shape;83;p64"/>
          <p:cNvSpPr txBox="1"/>
          <p:nvPr/>
        </p:nvSpPr>
        <p:spPr>
          <a:xfrm>
            <a:off x="8975725" y="1357027"/>
            <a:ext cx="749300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Arial" panose="020B0604020202090204"/>
              <a:buNone/>
            </a:pPr>
            <a:r>
              <a:rPr lang="en-GB" sz="1000" b="1" i="0" u="none" strike="noStrike" cap="none">
                <a:solidFill>
                  <a:srgbClr val="1F386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Link 2</a:t>
            </a:r>
            <a:endParaRPr sz="1000" b="1" i="0" u="none" strike="noStrike" cap="none">
              <a:solidFill>
                <a:srgbClr val="1F386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_appendix">
  <p:cSld name="Cover_appendix">
    <p:bg>
      <p:bgPr>
        <a:solidFill>
          <a:srgbClr val="161616"/>
        </a:solid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5" descr="Immagine che contiene cerchio, Elementi grafici, schermata, Policromia&#10;&#10;Descrizione generata automa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9701" y="5015188"/>
            <a:ext cx="392365" cy="3923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65"/>
          <p:cNvGrpSpPr/>
          <p:nvPr/>
        </p:nvGrpSpPr>
        <p:grpSpPr>
          <a:xfrm>
            <a:off x="1261502" y="4926363"/>
            <a:ext cx="1903939" cy="570014"/>
            <a:chOff x="1660200" y="4808813"/>
            <a:chExt cx="1903939" cy="570014"/>
          </a:xfrm>
        </p:grpSpPr>
        <p:sp>
          <p:nvSpPr>
            <p:cNvPr id="87" name="Google Shape;87;p65"/>
            <p:cNvSpPr txBox="1"/>
            <p:nvPr/>
          </p:nvSpPr>
          <p:spPr>
            <a:xfrm>
              <a:off x="1660200" y="4808813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Lenovo Laptop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8" name="Google Shape;88;p65"/>
            <p:cNvSpPr txBox="1"/>
            <p:nvPr/>
          </p:nvSpPr>
          <p:spPr>
            <a:xfrm>
              <a:off x="1660200" y="5101832"/>
              <a:ext cx="1903939" cy="276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 panose="020B0604020202090204"/>
                <a:buNone/>
              </a:pPr>
              <a:r>
                <a:rPr lang="en-GB" sz="1200" b="0" i="0" u="none" strike="noStrike" cap="none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France – August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89" name="Google Shape;89;p65"/>
          <p:cNvSpPr txBox="1"/>
          <p:nvPr/>
        </p:nvSpPr>
        <p:spPr>
          <a:xfrm>
            <a:off x="243983" y="6585712"/>
            <a:ext cx="411587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2025 Lenovo Internal. All rights reserved.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90" name="Google Shape;90;p6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633081" y="1216733"/>
            <a:ext cx="847805" cy="27129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5"/>
          <p:cNvSpPr txBox="1"/>
          <p:nvPr/>
        </p:nvSpPr>
        <p:spPr>
          <a:xfrm>
            <a:off x="2286313" y="1297788"/>
            <a:ext cx="263781" cy="19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 panose="02000000000000000000"/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for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92" name="Google Shape;92;p65" descr="logo_full_rtbh_whit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5000" y="1099488"/>
            <a:ext cx="1591426" cy="411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9"/>
          <p:cNvSpPr txBox="1"/>
          <p:nvPr>
            <p:ph type="sldNum" idx="12"/>
          </p:nvPr>
        </p:nvSpPr>
        <p:spPr>
          <a:xfrm>
            <a:off x="11695092" y="6504029"/>
            <a:ext cx="260645" cy="2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BBC"/>
              </a:buClr>
              <a:buSzPts val="1000"/>
              <a:buFont typeface="Roboto" panose="02000000000000000000"/>
              <a:buNone/>
              <a:defRPr sz="1000" b="0" i="0" u="none" strike="noStrike" cap="none">
                <a:solidFill>
                  <a:srgbClr val="BCBBBC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" name="Google Shape;29;p59"/>
          <p:cNvSpPr txBox="1"/>
          <p:nvPr>
            <p:ph type="title"/>
          </p:nvPr>
        </p:nvSpPr>
        <p:spPr>
          <a:xfrm>
            <a:off x="564225" y="365125"/>
            <a:ext cx="10515601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90204"/>
              <a:buNone/>
              <a:defRPr sz="3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0" name="Google Shape;30;p59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"/>
          <p:cNvSpPr/>
          <p:nvPr/>
        </p:nvSpPr>
        <p:spPr>
          <a:xfrm>
            <a:off x="2398644" y="858934"/>
            <a:ext cx="7394713" cy="5281807"/>
          </a:xfrm>
          <a:prstGeom prst="roundRect">
            <a:avLst>
              <a:gd name="adj" fmla="val 7106"/>
            </a:avLst>
          </a:prstGeom>
          <a:solidFill>
            <a:srgbClr val="FFFFFF"/>
          </a:solidFill>
          <a:ln w="1270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8" name="Google Shape;588;p18"/>
          <p:cNvGraphicFramePr/>
          <p:nvPr/>
        </p:nvGraphicFramePr>
        <p:xfrm>
          <a:off x="2562771" y="3608669"/>
          <a:ext cx="7066500" cy="3000000"/>
        </p:xfrm>
        <a:graphic>
          <a:graphicData uri="http://schemas.openxmlformats.org/drawingml/2006/table">
            <a:tbl>
              <a:tblPr firstRow="1" bandRow="1">
                <a:noFill/>
                <a:tableStyleId>{7EF200F5-5327-451D-88F7-358901D9561F}</a:tableStyleId>
              </a:tblPr>
              <a:tblGrid>
                <a:gridCol w="1177750"/>
                <a:gridCol w="1177750"/>
                <a:gridCol w="1177750"/>
                <a:gridCol w="1177750"/>
                <a:gridCol w="1177750"/>
                <a:gridCol w="117775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Helvetica Neue" panose="02000503000000020004"/>
                        <a:buNone/>
                      </a:pPr>
                      <a:endParaRPr sz="1050" u="none" strike="noStrike" cap="none">
                        <a:solidFill>
                          <a:srgbClr val="14141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Helvetica Neue" panose="02000503000000020004"/>
                        <a:buNone/>
                      </a:pPr>
                      <a:endParaRPr sz="1050" u="none" strike="noStrike" cap="none">
                        <a:solidFill>
                          <a:srgbClr val="14141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Helvetica Neue" panose="02000503000000020004"/>
                        <a:buNone/>
                      </a:pPr>
                      <a:endParaRPr sz="1050" u="none" strike="noStrike" cap="none">
                        <a:solidFill>
                          <a:srgbClr val="14141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Helvetica Neue" panose="02000503000000020004"/>
                        <a:buNone/>
                      </a:pPr>
                      <a:endParaRPr sz="1050" u="none" strike="noStrike" cap="none">
                        <a:solidFill>
                          <a:srgbClr val="14141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Helvetica Neue" panose="02000503000000020004"/>
                        <a:buNone/>
                      </a:pPr>
                      <a:endParaRPr sz="1050" u="none" strike="noStrike" cap="none">
                        <a:solidFill>
                          <a:srgbClr val="14141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Helvetica Neue" panose="02000503000000020004"/>
                        <a:buNone/>
                      </a:pPr>
                      <a:endParaRPr sz="1050" u="none" strike="noStrike" cap="none">
                        <a:solidFill>
                          <a:srgbClr val="141414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  <a:sym typeface="Arial" panose="020B0604020202090204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89" name="Google Shape;589;p18"/>
          <p:cNvSpPr txBox="1"/>
          <p:nvPr/>
        </p:nvSpPr>
        <p:spPr>
          <a:xfrm>
            <a:off x="2562771" y="3331369"/>
            <a:ext cx="1444625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900"/>
              <a:buFont typeface="Arial" panose="020B0604020202090204"/>
              <a:buNone/>
            </a:pPr>
            <a:r>
              <a:rPr lang="en-GB" sz="900" b="0" i="1" u="none" strike="noStrike" cap="none">
                <a:solidFill>
                  <a:srgbClr val="3A383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Ranking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590" name="Google Shape;590;p18" descr="np_love-chat_4234986_09215F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546667" y="949522"/>
            <a:ext cx="466725" cy="46672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8"/>
          <p:cNvSpPr txBox="1"/>
          <p:nvPr/>
        </p:nvSpPr>
        <p:spPr>
          <a:xfrm>
            <a:off x="335471" y="157390"/>
            <a:ext cx="116640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400"/>
              <a:buFont typeface="Arial" panose="020B0604020202090204"/>
              <a:buNone/>
            </a:pPr>
            <a:r>
              <a:rPr lang="en-GB" sz="2400" b="0" i="0" u="none" strike="noStrike" cap="none">
                <a:solidFill>
                  <a:srgbClr val="08080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Net Lovers Trend – August '25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92" name="Google Shape;592;p18"/>
          <p:cNvSpPr txBox="1"/>
          <p:nvPr/>
        </p:nvSpPr>
        <p:spPr>
          <a:xfrm>
            <a:off x="2398644" y="6213953"/>
            <a:ext cx="3398838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900"/>
              <a:buFont typeface="Arial" panose="020B0604020202090204"/>
              <a:buNone/>
            </a:pPr>
            <a:r>
              <a:rPr lang="en-GB" sz="900" b="0" i="1" u="none" strike="noStrike" cap="none">
                <a:solidFill>
                  <a:srgbClr val="3A383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Lenovo RTBH KPIs are calculated considering the whole market.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3392805" y="4406900"/>
            <a:ext cx="828040" cy="384810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72000" tIns="108000" rIns="72000" bIns="108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LOVERS</a:t>
            </a:r>
            <a:endParaRPr sz="1100" b="0" i="0" u="none" strike="noStrike" cap="none">
              <a:solidFill>
                <a:srgbClr val="000000"/>
              </a:solidFill>
              <a:latin typeface="Sathu" panose="00000400000000000000" charset="0"/>
              <a:ea typeface="Sathu" panose="00000400000000000000" charset="0"/>
              <a:cs typeface="Sathu" panose="00000400000000000000" charset="0"/>
              <a:sym typeface="Sathu" panose="00000400000000000000" charset="0"/>
            </a:endParaRPr>
          </a:p>
        </p:txBody>
      </p:sp>
      <p:sp>
        <p:nvSpPr>
          <p:cNvPr id="594" name="Google Shape;594;p18"/>
          <p:cNvSpPr txBox="1"/>
          <p:nvPr/>
        </p:nvSpPr>
        <p:spPr>
          <a:xfrm>
            <a:off x="2971800" y="4188454"/>
            <a:ext cx="4864100" cy="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050"/>
              <a:buFont typeface="Arial" panose="020B0604020202090204"/>
              <a:buNone/>
            </a:pPr>
            <a:r>
              <a:rPr lang="en-GB" sz="1050" b="1" i="0" u="none" strike="noStrike" cap="none">
                <a:solidFill>
                  <a:srgbClr val="3A383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Sentiment Split</a:t>
            </a:r>
            <a:endParaRPr sz="1050" b="1" i="0" u="none" strike="noStrike" cap="none">
              <a:solidFill>
                <a:srgbClr val="3A383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5628005" y="4364990"/>
            <a:ext cx="1052195" cy="384810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72000" tIns="108000" rIns="72000" bIns="108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NEUTRALS</a:t>
            </a:r>
            <a:endParaRPr sz="1100" b="0" i="0" u="none" strike="noStrike" cap="none">
              <a:solidFill>
                <a:srgbClr val="000000"/>
              </a:solidFill>
              <a:latin typeface="Sathu" panose="00000400000000000000" charset="0"/>
              <a:ea typeface="Sathu" panose="00000400000000000000" charset="0"/>
              <a:cs typeface="Sathu" panose="00000400000000000000" charset="0"/>
              <a:sym typeface="Sathu" panose="00000400000000000000" charset="0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7948613" y="4405908"/>
            <a:ext cx="795338" cy="387350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72000" tIns="108000" rIns="72000" bIns="1080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-GB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HATERS</a:t>
            </a:r>
            <a:endParaRPr sz="1100" b="0" i="0" u="none" strike="noStrike" cap="none">
              <a:solidFill>
                <a:srgbClr val="000000"/>
              </a:solidFill>
              <a:latin typeface="Sathu" panose="00000400000000000000" charset="0"/>
              <a:ea typeface="Sathu" panose="00000400000000000000" charset="0"/>
              <a:cs typeface="Sathu" panose="00000400000000000000" charset="0"/>
              <a:sym typeface="Sathu" panose="00000400000000000000" charset="0"/>
            </a:endParaRPr>
          </a:p>
        </p:txBody>
      </p:sp>
      <p:graphicFrame>
        <p:nvGraphicFramePr>
          <p:cNvPr id="597" name="Google Shape;597;p18"/>
          <p:cNvGraphicFramePr/>
          <p:nvPr/>
        </p:nvGraphicFramePr>
        <p:xfrm>
          <a:off x="3084513" y="1138238"/>
          <a:ext cx="6022975" cy="2046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98" name="Google Shape;598;p18"/>
          <p:cNvSpPr txBox="1"/>
          <p:nvPr/>
        </p:nvSpPr>
        <p:spPr>
          <a:xfrm>
            <a:off x="3036888" y="100965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35%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99" name="Google Shape;599;p18"/>
          <p:cNvSpPr txBox="1"/>
          <p:nvPr/>
        </p:nvSpPr>
        <p:spPr>
          <a:xfrm>
            <a:off x="2949575" y="3144838"/>
            <a:ext cx="434975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Mar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0" name="Google Shape;600;p18"/>
          <p:cNvSpPr txBox="1"/>
          <p:nvPr/>
        </p:nvSpPr>
        <p:spPr>
          <a:xfrm>
            <a:off x="4208463" y="2655888"/>
            <a:ext cx="260350" cy="123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28%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1" name="Google Shape;601;p18"/>
          <p:cNvSpPr txBox="1"/>
          <p:nvPr/>
        </p:nvSpPr>
        <p:spPr>
          <a:xfrm>
            <a:off x="4132263" y="3144838"/>
            <a:ext cx="412750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Apr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2" name="Google Shape;602;p18"/>
          <p:cNvSpPr txBox="1"/>
          <p:nvPr/>
        </p:nvSpPr>
        <p:spPr>
          <a:xfrm>
            <a:off x="5380038" y="171450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32%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3" name="Google Shape;603;p18"/>
          <p:cNvSpPr txBox="1"/>
          <p:nvPr/>
        </p:nvSpPr>
        <p:spPr>
          <a:xfrm>
            <a:off x="5283200" y="3144838"/>
            <a:ext cx="455613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May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4" name="Google Shape;604;p18"/>
          <p:cNvSpPr txBox="1"/>
          <p:nvPr/>
        </p:nvSpPr>
        <p:spPr>
          <a:xfrm>
            <a:off x="6551613" y="2890838"/>
            <a:ext cx="260350" cy="123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27%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5" name="Google Shape;605;p18"/>
          <p:cNvSpPr txBox="1"/>
          <p:nvPr/>
        </p:nvSpPr>
        <p:spPr>
          <a:xfrm>
            <a:off x="6472238" y="3144838"/>
            <a:ext cx="419100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Jun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6" name="Google Shape;606;p18"/>
          <p:cNvSpPr txBox="1"/>
          <p:nvPr/>
        </p:nvSpPr>
        <p:spPr>
          <a:xfrm>
            <a:off x="7723188" y="289083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27%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7" name="Google Shape;607;p18"/>
          <p:cNvSpPr txBox="1"/>
          <p:nvPr/>
        </p:nvSpPr>
        <p:spPr>
          <a:xfrm>
            <a:off x="7664451" y="3144838"/>
            <a:ext cx="377825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Jul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8" name="Google Shape;608;p18"/>
          <p:cNvSpPr txBox="1"/>
          <p:nvPr/>
        </p:nvSpPr>
        <p:spPr>
          <a:xfrm>
            <a:off x="8894763" y="242093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09" name="Google Shape;609;p18"/>
          <p:cNvSpPr txBox="1"/>
          <p:nvPr/>
        </p:nvSpPr>
        <p:spPr>
          <a:xfrm>
            <a:off x="8805862" y="3144838"/>
            <a:ext cx="439738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Aug ’25</a:t>
            </a:r>
            <a:endParaRPr sz="10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10" name="Google Shape;610;p18"/>
          <p:cNvSpPr txBox="1"/>
          <p:nvPr/>
        </p:nvSpPr>
        <p:spPr>
          <a:xfrm>
            <a:off x="2592388" y="3627438"/>
            <a:ext cx="11541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75" rIns="0" bIns="77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#3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11" name="Google Shape;611;p18"/>
          <p:cNvSpPr txBox="1"/>
          <p:nvPr/>
        </p:nvSpPr>
        <p:spPr>
          <a:xfrm>
            <a:off x="3768725" y="3627438"/>
            <a:ext cx="11541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75" rIns="0" bIns="77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#3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12" name="Google Shape;612;p18"/>
          <p:cNvSpPr txBox="1"/>
          <p:nvPr/>
        </p:nvSpPr>
        <p:spPr>
          <a:xfrm>
            <a:off x="4945063" y="3627438"/>
            <a:ext cx="11541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75" rIns="0" bIns="77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#3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13" name="Google Shape;613;p18"/>
          <p:cNvSpPr txBox="1"/>
          <p:nvPr/>
        </p:nvSpPr>
        <p:spPr>
          <a:xfrm>
            <a:off x="6121400" y="3627438"/>
            <a:ext cx="11541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75" rIns="0" bIns="77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#4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14" name="Google Shape;614;p18"/>
          <p:cNvSpPr txBox="1"/>
          <p:nvPr/>
        </p:nvSpPr>
        <p:spPr>
          <a:xfrm>
            <a:off x="7297738" y="3627438"/>
            <a:ext cx="11541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75" rIns="0" bIns="77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#5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15" name="Google Shape;615;p18"/>
          <p:cNvSpPr txBox="1"/>
          <p:nvPr/>
        </p:nvSpPr>
        <p:spPr>
          <a:xfrm>
            <a:off x="8474075" y="3627438"/>
            <a:ext cx="11541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775" rIns="0" bIns="77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#4</a:t>
            </a:r>
            <a:endParaRPr sz="12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aphicFrame>
        <p:nvGraphicFramePr>
          <p:cNvPr id="616" name="Google Shape;616;p18"/>
          <p:cNvGraphicFramePr/>
          <p:nvPr/>
        </p:nvGraphicFramePr>
        <p:xfrm>
          <a:off x="2889250" y="4913313"/>
          <a:ext cx="1628775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7" name="Google Shape;617;p18"/>
          <p:cNvSpPr txBox="1"/>
          <p:nvPr/>
        </p:nvSpPr>
        <p:spPr>
          <a:xfrm>
            <a:off x="2841625" y="4859338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41%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18" name="Google Shape;618;p18"/>
          <p:cNvSpPr txBox="1"/>
          <p:nvPr/>
        </p:nvSpPr>
        <p:spPr>
          <a:xfrm>
            <a:off x="3328988" y="515620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19" name="Google Shape;619;p18"/>
          <p:cNvSpPr txBox="1"/>
          <p:nvPr/>
        </p:nvSpPr>
        <p:spPr>
          <a:xfrm>
            <a:off x="3817938" y="513080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30%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20" name="Google Shape;620;p18"/>
          <p:cNvSpPr txBox="1"/>
          <p:nvPr/>
        </p:nvSpPr>
        <p:spPr>
          <a:xfrm>
            <a:off x="4305300" y="495776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37%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621" name="Google Shape;621;p18"/>
          <p:cNvGraphicFramePr/>
          <p:nvPr/>
        </p:nvGraphicFramePr>
        <p:xfrm>
          <a:off x="5210175" y="4913313"/>
          <a:ext cx="1628775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22" name="Google Shape;622;p18"/>
          <p:cNvSpPr txBox="1"/>
          <p:nvPr/>
        </p:nvSpPr>
        <p:spPr>
          <a:xfrm>
            <a:off x="5162550" y="5156200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50%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23" name="Google Shape;623;p18"/>
          <p:cNvSpPr txBox="1"/>
          <p:nvPr/>
        </p:nvSpPr>
        <p:spPr>
          <a:xfrm>
            <a:off x="5649913" y="478472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69%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24" name="Google Shape;624;p18"/>
          <p:cNvSpPr txBox="1"/>
          <p:nvPr/>
        </p:nvSpPr>
        <p:spPr>
          <a:xfrm>
            <a:off x="6138863" y="4824413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67%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6626225" y="5057775"/>
            <a:ext cx="2603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55%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626" name="Google Shape;626;p18"/>
          <p:cNvGraphicFramePr/>
          <p:nvPr/>
        </p:nvGraphicFramePr>
        <p:xfrm>
          <a:off x="7531100" y="4913313"/>
          <a:ext cx="1628775" cy="53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7" name="Google Shape;627;p18"/>
          <p:cNvSpPr txBox="1"/>
          <p:nvPr/>
        </p:nvSpPr>
        <p:spPr>
          <a:xfrm>
            <a:off x="7515225" y="4784725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9%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28" name="Google Shape;628;p18"/>
          <p:cNvSpPr txBox="1"/>
          <p:nvPr/>
        </p:nvSpPr>
        <p:spPr>
          <a:xfrm>
            <a:off x="8002588" y="5156200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2%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29" name="Google Shape;629;p18"/>
          <p:cNvSpPr txBox="1"/>
          <p:nvPr/>
        </p:nvSpPr>
        <p:spPr>
          <a:xfrm>
            <a:off x="8491538" y="5103813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3%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630" name="Google Shape;630;p18"/>
          <p:cNvSpPr txBox="1"/>
          <p:nvPr/>
        </p:nvSpPr>
        <p:spPr>
          <a:xfrm>
            <a:off x="8978900" y="4837113"/>
            <a:ext cx="1968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75" tIns="0" rIns="15875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8%</a:t>
            </a:r>
            <a:endParaRPr sz="900" b="0" i="0" u="none" strike="noStrike" cap="none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pSp>
        <p:nvGrpSpPr>
          <p:cNvPr id="631" name="Google Shape;631;p18"/>
          <p:cNvGrpSpPr/>
          <p:nvPr/>
        </p:nvGrpSpPr>
        <p:grpSpPr>
          <a:xfrm>
            <a:off x="7551738" y="5534343"/>
            <a:ext cx="1589088" cy="533400"/>
            <a:chOff x="1481159" y="5454979"/>
            <a:chExt cx="1590343" cy="533402"/>
          </a:xfrm>
        </p:grpSpPr>
        <p:sp>
          <p:nvSpPr>
            <p:cNvPr id="632" name="Google Shape;632;p18"/>
            <p:cNvSpPr txBox="1"/>
            <p:nvPr/>
          </p:nvSpPr>
          <p:spPr>
            <a:xfrm rot="5400000">
              <a:off x="1818357" y="5601730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Jun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33" name="Google Shape;633;p18"/>
            <p:cNvSpPr txBox="1"/>
            <p:nvPr/>
          </p:nvSpPr>
          <p:spPr>
            <a:xfrm rot="5400000">
              <a:off x="2302304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Jul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34" name="Google Shape;634;p18"/>
            <p:cNvSpPr txBox="1"/>
            <p:nvPr/>
          </p:nvSpPr>
          <p:spPr>
            <a:xfrm rot="5400000">
              <a:off x="2786252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Aug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35" name="Google Shape;635;p18"/>
            <p:cNvSpPr txBox="1"/>
            <p:nvPr/>
          </p:nvSpPr>
          <p:spPr>
            <a:xfrm rot="5400000">
              <a:off x="1283708" y="5652431"/>
              <a:ext cx="5334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May '25</a:t>
              </a:r>
              <a:endParaRPr sz="900" b="0" i="0" u="none" strike="noStrike" cap="none">
                <a:solidFill>
                  <a:srgbClr val="3F3F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grpSp>
        <p:nvGrpSpPr>
          <p:cNvPr id="636" name="Google Shape;636;p18"/>
          <p:cNvGrpSpPr/>
          <p:nvPr/>
        </p:nvGrpSpPr>
        <p:grpSpPr>
          <a:xfrm>
            <a:off x="5229758" y="5534343"/>
            <a:ext cx="1589608" cy="533400"/>
            <a:chOff x="1481159" y="5454979"/>
            <a:chExt cx="1590343" cy="533402"/>
          </a:xfrm>
        </p:grpSpPr>
        <p:sp>
          <p:nvSpPr>
            <p:cNvPr id="637" name="Google Shape;637;p18"/>
            <p:cNvSpPr txBox="1"/>
            <p:nvPr/>
          </p:nvSpPr>
          <p:spPr>
            <a:xfrm rot="5400000">
              <a:off x="1818357" y="5601730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Jun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38" name="Google Shape;638;p18"/>
            <p:cNvSpPr txBox="1"/>
            <p:nvPr/>
          </p:nvSpPr>
          <p:spPr>
            <a:xfrm rot="5400000">
              <a:off x="2302304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Jul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39" name="Google Shape;639;p18"/>
            <p:cNvSpPr txBox="1"/>
            <p:nvPr/>
          </p:nvSpPr>
          <p:spPr>
            <a:xfrm rot="5400000">
              <a:off x="2786252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Aug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40" name="Google Shape;640;p18"/>
            <p:cNvSpPr txBox="1"/>
            <p:nvPr/>
          </p:nvSpPr>
          <p:spPr>
            <a:xfrm rot="5400000">
              <a:off x="1283708" y="5652431"/>
              <a:ext cx="5334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May '25</a:t>
              </a:r>
              <a:endParaRPr sz="900" b="0" i="0" u="none" strike="noStrike" cap="none">
                <a:solidFill>
                  <a:srgbClr val="3F3F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grpSp>
        <p:nvGrpSpPr>
          <p:cNvPr id="641" name="Google Shape;641;p18"/>
          <p:cNvGrpSpPr/>
          <p:nvPr/>
        </p:nvGrpSpPr>
        <p:grpSpPr>
          <a:xfrm>
            <a:off x="2909888" y="5534343"/>
            <a:ext cx="1589088" cy="533400"/>
            <a:chOff x="1481159" y="5454979"/>
            <a:chExt cx="1590343" cy="533402"/>
          </a:xfrm>
        </p:grpSpPr>
        <p:sp>
          <p:nvSpPr>
            <p:cNvPr id="642" name="Google Shape;642;p18"/>
            <p:cNvSpPr txBox="1"/>
            <p:nvPr/>
          </p:nvSpPr>
          <p:spPr>
            <a:xfrm rot="5400000">
              <a:off x="1818357" y="5601730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Jun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43" name="Google Shape;643;p18"/>
            <p:cNvSpPr txBox="1"/>
            <p:nvPr/>
          </p:nvSpPr>
          <p:spPr>
            <a:xfrm rot="5400000">
              <a:off x="2302304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Jul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44" name="Google Shape;644;p18"/>
            <p:cNvSpPr txBox="1"/>
            <p:nvPr/>
          </p:nvSpPr>
          <p:spPr>
            <a:xfrm rot="5400000">
              <a:off x="2786252" y="5601729"/>
              <a:ext cx="43200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Aug '25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45" name="Google Shape;645;p18"/>
            <p:cNvSpPr txBox="1"/>
            <p:nvPr/>
          </p:nvSpPr>
          <p:spPr>
            <a:xfrm rot="5400000">
              <a:off x="1283708" y="5652431"/>
              <a:ext cx="53340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36000" bIns="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900"/>
                <a:buFont typeface="Roboto" panose="02000000000000000000"/>
                <a:buNone/>
              </a:pPr>
              <a:r>
                <a:rPr lang="en-GB" sz="900" b="0" i="0" u="none" strike="noStrike" cap="none">
                  <a:solidFill>
                    <a:srgbClr val="3F3F3F"/>
                  </a:solidFill>
                  <a:latin typeface="Roboto" panose="02000000000000000000"/>
                  <a:ea typeface="Roboto" panose="02000000000000000000"/>
                  <a:cs typeface="Roboto" panose="02000000000000000000"/>
                  <a:sym typeface="Roboto" panose="02000000000000000000"/>
                </a:rPr>
                <a:t>May '25</a:t>
              </a:r>
              <a:endParaRPr sz="900" b="0" i="0" u="none" strike="noStrike" cap="none">
                <a:solidFill>
                  <a:srgbClr val="3F3F3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3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WPS 表格</Application>
  <PresentationFormat/>
  <Paragraphs>98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Roboto</vt:lpstr>
      <vt:lpstr>Helvetica Neue</vt:lpstr>
      <vt:lpstr>Calibri</vt:lpstr>
      <vt:lpstr>Helvetica Neue</vt:lpstr>
      <vt:lpstr>Sathu</vt:lpstr>
      <vt:lpstr>微软雅黑</vt:lpstr>
      <vt:lpstr>汉仪旗黑</vt:lpstr>
      <vt:lpstr>宋体</vt:lpstr>
      <vt:lpstr>Arial Unicode MS</vt:lpstr>
      <vt:lpstr>汉仪书宋二KW</vt:lpstr>
      <vt:lpstr>Roboto</vt:lpstr>
      <vt:lpstr>4_Office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Del Grosso</dc:creator>
  <cp:lastModifiedBy>肖景海</cp:lastModifiedBy>
  <cp:revision>3</cp:revision>
  <dcterms:created xsi:type="dcterms:W3CDTF">2025-11-03T07:00:59Z</dcterms:created>
  <dcterms:modified xsi:type="dcterms:W3CDTF">2025-11-03T07:00:59Z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89AE728ED0A4EC2857090569D480787C_42</vt:lpwstr>
  </property>
  <property fmtid="{D5CDD505-2E9C-101B-9397-08002B2CF9AE}" pid="3" name="KSOProductBuildVer">
    <vt:lpwstr>2052-12.1.23540.23540</vt:lpwstr>
  </property>
</Properties>
</file>