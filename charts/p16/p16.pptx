
<file path=[Content_Types].xml><?xml version="1.0" encoding="utf-8"?>
<Types xmlns="http://schemas.openxmlformats.org/package/2006/content-types">
  <Default Extension="xlsb" ContentType="application/vnd.ms-excel.sheet.binary.macroEnabled.12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72" r:id="rId3"/>
  </p:sldIdLst>
  <p:sldSz cx="12192000" cy="6858000"/>
  <p:notesSz cx="6889750" cy="10018395"/>
  <p:embeddedFontLst>
    <p:embeddedFont>
      <p:font typeface="Roboto" panose="02000000000000000000"/>
      <p:regular r:id="rId8"/>
    </p:embeddedFont>
    <p:embeddedFont>
      <p:font typeface="Helvetica Neue" panose="02000503000000020004"/>
      <p:regular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2.fntdata"/><Relationship Id="rId8" Type="http://schemas.openxmlformats.org/officeDocument/2006/relationships/font" Target="fonts/font1.fntdata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2093023255814"/>
          <c:y val="0.055793991416309"/>
          <c:w val="0.975813953488372"/>
          <c:h val="0.888412017167382"/>
        </c:manualLayout>
      </c:layout>
      <c:lineChart>
        <c:grouping val="standard"/>
        <c:varyColors val="0"/>
        <c:ser>
          <c:idx val="0"/>
          <c:order val="0"/>
          <c:spPr>
            <a:ln w="28575" cap="rnd" cmpd="sng" algn="ctr">
              <a:solidFill>
                <a:srgbClr val="E21409"/>
              </a:solidFill>
              <a:prstDash val="solid"/>
              <a:round/>
            </a:ln>
          </c:spPr>
          <c:marker>
            <c:symbol val="none"/>
          </c:marker>
          <c:dPt>
            <c:idx val="0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1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2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3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4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5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Lbls>
            <c:delete val="1"/>
          </c:dLbls>
          <c:val>
            <c:numRef>
              <c:f>Sheet1!$A$1:$F$1</c:f>
              <c:numCache>
                <c:formatCode>General</c:formatCode>
                <c:ptCount val="6"/>
                <c:pt idx="0">
                  <c:v>28</c:v>
                </c:pt>
                <c:pt idx="1">
                  <c:v>11</c:v>
                </c:pt>
                <c:pt idx="2">
                  <c:v>9</c:v>
                </c:pt>
                <c:pt idx="3">
                  <c:v>53</c:v>
                </c:pt>
                <c:pt idx="4">
                  <c:v>28</c:v>
                </c:pt>
                <c:pt idx="5">
                  <c:v>23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97689232"/>
        <c:axId val="1"/>
      </c:lineChart>
      <c:catAx>
        <c:axId val="97689232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rgbClr val="FBFBF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"/>
          <c:min val="9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7689232"/>
        <c:crosses val="min"/>
        <c:crossBetween val="midCat"/>
      </c:valAx>
    </c:plotArea>
    <c:plotVisOnly val="0"/>
    <c:dispBlanksAs val="gap"/>
    <c:showDLblsOverMax val="1"/>
    <c:extLst>
      <c:ext uri="{0b15fc19-7d7d-44ad-8c2d-2c3a37ce22c3}">
        <chartProps xmlns="https://web.wps.cn/et/2018/main" chartId="{607631df-b831-4f3e-b6d0-fe23641935fb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2786885245902"/>
          <c:y val="0.153846153846154"/>
          <c:w val="0.89344262295082"/>
          <c:h val="0.692307692307692"/>
        </c:manualLayout>
      </c:layout>
      <c:lineChart>
        <c:grouping val="standard"/>
        <c:varyColors val="0"/>
        <c:ser>
          <c:idx val="0"/>
          <c:order val="0"/>
          <c:spPr>
            <a:ln w="28575" cap="rnd" cmpd="sng" algn="ctr">
              <a:solidFill>
                <a:srgbClr val="E21409"/>
              </a:solidFill>
              <a:prstDash val="solid"/>
              <a:round/>
            </a:ln>
          </c:spPr>
          <c:marker>
            <c:symbol val="none"/>
          </c:marker>
          <c:dPt>
            <c:idx val="0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1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2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3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Lbls>
            <c:delete val="1"/>
          </c:dLbls>
          <c:val>
            <c:numRef>
              <c:f>Sheet1!$A$1:$D$1</c:f>
              <c:numCache>
                <c:formatCode>General</c:formatCode>
                <c:ptCount val="4"/>
                <c:pt idx="0">
                  <c:v>20</c:v>
                </c:pt>
                <c:pt idx="1">
                  <c:v>19</c:v>
                </c:pt>
                <c:pt idx="2">
                  <c:v>21</c:v>
                </c:pt>
                <c:pt idx="3">
                  <c:v>26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97681552"/>
        <c:axId val="1"/>
      </c:lineChart>
      <c:catAx>
        <c:axId val="97681552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bg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7681552"/>
        <c:crosses val="min"/>
        <c:crossBetween val="midCat"/>
      </c:valAx>
    </c:plotArea>
    <c:plotVisOnly val="0"/>
    <c:dispBlanksAs val="gap"/>
    <c:showDLblsOverMax val="1"/>
    <c:extLst>
      <c:ext uri="{0b15fc19-7d7d-44ad-8c2d-2c3a37ce22c3}">
        <chartProps xmlns="https://web.wps.cn/et/2018/main" chartId="{cb55e9c6-5551-449f-8f81-eb587ea38087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2786885245902"/>
          <c:y val="0.153846153846154"/>
          <c:w val="0.89344262295082"/>
          <c:h val="0.692307692307692"/>
        </c:manualLayout>
      </c:layout>
      <c:lineChart>
        <c:grouping val="standard"/>
        <c:varyColors val="0"/>
        <c:ser>
          <c:idx val="0"/>
          <c:order val="0"/>
          <c:spPr>
            <a:ln w="28575" cap="rnd" cmpd="sng" algn="ctr">
              <a:solidFill>
                <a:srgbClr val="E21409"/>
              </a:solidFill>
              <a:prstDash val="solid"/>
              <a:round/>
            </a:ln>
          </c:spPr>
          <c:marker>
            <c:symbol val="none"/>
          </c:marker>
          <c:dPt>
            <c:idx val="0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1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2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3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Lbls>
            <c:delete val="1"/>
          </c:dLbls>
          <c:val>
            <c:numRef>
              <c:f>Sheet1!$A$1:$D$1</c:f>
              <c:numCache>
                <c:formatCode>General</c:formatCode>
                <c:ptCount val="4"/>
                <c:pt idx="0">
                  <c:v>3</c:v>
                </c:pt>
                <c:pt idx="1">
                  <c:v>79</c:v>
                </c:pt>
                <c:pt idx="2">
                  <c:v>50</c:v>
                </c:pt>
                <c:pt idx="3">
                  <c:v>28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97700272"/>
        <c:axId val="1"/>
      </c:lineChart>
      <c:catAx>
        <c:axId val="97700272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bg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7700272"/>
        <c:crosses val="min"/>
        <c:crossBetween val="midCat"/>
      </c:valAx>
    </c:plotArea>
    <c:plotVisOnly val="0"/>
    <c:dispBlanksAs val="gap"/>
    <c:showDLblsOverMax val="1"/>
    <c:extLst>
      <c:ext uri="{0b15fc19-7d7d-44ad-8c2d-2c3a37ce22c3}">
        <chartProps xmlns="https://web.wps.cn/et/2018/main" chartId="{57811578-4b9e-4da4-b9f3-11cdcee7f281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2786885245902"/>
          <c:y val="0.153846153846154"/>
          <c:w val="0.89344262295082"/>
          <c:h val="0.692307692307692"/>
        </c:manualLayout>
      </c:layout>
      <c:lineChart>
        <c:grouping val="standard"/>
        <c:varyColors val="0"/>
        <c:ser>
          <c:idx val="0"/>
          <c:order val="0"/>
          <c:spPr>
            <a:ln w="28575" cap="rnd" cmpd="sng" algn="ctr">
              <a:solidFill>
                <a:srgbClr val="E21409"/>
              </a:solidFill>
              <a:prstDash val="solid"/>
              <a:round/>
            </a:ln>
          </c:spPr>
          <c:marker>
            <c:symbol val="none"/>
          </c:marker>
          <c:dPt>
            <c:idx val="0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1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2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3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Lbls>
            <c:delete val="1"/>
          </c:dLbls>
          <c:val>
            <c:numRef>
              <c:f>Sheet1!$A$1:$D$1</c:f>
              <c:numCache>
                <c:formatCode>General</c:formatCode>
                <c:ptCount val="4"/>
                <c:pt idx="0">
                  <c:v>16</c:v>
                </c:pt>
                <c:pt idx="1">
                  <c:v>16</c:v>
                </c:pt>
                <c:pt idx="2">
                  <c:v>13</c:v>
                </c:pt>
                <c:pt idx="3">
                  <c:v>15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97709392"/>
        <c:axId val="1"/>
      </c:lineChart>
      <c:catAx>
        <c:axId val="97709392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bg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7709392"/>
        <c:crosses val="min"/>
        <c:crossBetween val="midCat"/>
      </c:valAx>
    </c:plotArea>
    <c:plotVisOnly val="0"/>
    <c:dispBlanksAs val="gap"/>
    <c:showDLblsOverMax val="1"/>
    <c:extLst>
      <c:ext uri="{0b15fc19-7d7d-44ad-8c2d-2c3a37ce22c3}">
        <chartProps xmlns="https://web.wps.cn/et/2018/main" chartId="{627ee73f-a606-4281-b5a3-8fb27efc1ef6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2786885245902"/>
          <c:y val="0.153846153846154"/>
          <c:w val="0.89344262295082"/>
          <c:h val="0.692307692307692"/>
        </c:manualLayout>
      </c:layout>
      <c:lineChart>
        <c:grouping val="standard"/>
        <c:varyColors val="0"/>
        <c:ser>
          <c:idx val="0"/>
          <c:order val="0"/>
          <c:spPr>
            <a:ln w="28575" cap="rnd" cmpd="sng" algn="ctr">
              <a:solidFill>
                <a:srgbClr val="E21409"/>
              </a:solidFill>
              <a:prstDash val="solid"/>
              <a:round/>
            </a:ln>
          </c:spPr>
          <c:marker>
            <c:symbol val="none"/>
          </c:marker>
          <c:dPt>
            <c:idx val="0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1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2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3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Lbls>
            <c:delete val="1"/>
          </c:dLbls>
          <c:val>
            <c:numRef>
              <c:f>Sheet1!$A$1:$D$1</c:f>
              <c:numCache>
                <c:formatCode>General</c:formatCode>
                <c:ptCount val="4"/>
                <c:pt idx="0">
                  <c:v>14</c:v>
                </c:pt>
                <c:pt idx="1">
                  <c:v>14</c:v>
                </c:pt>
                <c:pt idx="2">
                  <c:v>15</c:v>
                </c:pt>
                <c:pt idx="3">
                  <c:v>20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97733392"/>
        <c:axId val="1"/>
      </c:lineChart>
      <c:catAx>
        <c:axId val="97733392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bg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7733392"/>
        <c:crosses val="min"/>
        <c:crossBetween val="midCat"/>
      </c:valAx>
    </c:plotArea>
    <c:plotVisOnly val="0"/>
    <c:dispBlanksAs val="gap"/>
    <c:showDLblsOverMax val="1"/>
    <c:extLst>
      <c:ext uri="{0b15fc19-7d7d-44ad-8c2d-2c3a37ce22c3}">
        <chartProps xmlns="https://web.wps.cn/et/2018/main" chartId="{79261911-5ad4-4bab-8dc8-eb0e159b1870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2241555783009"/>
          <c:y val="0.153846153846154"/>
          <c:w val="0.893551688843398"/>
          <c:h val="0.692307692307692"/>
        </c:manualLayout>
      </c:layout>
      <c:lineChart>
        <c:grouping val="standard"/>
        <c:varyColors val="0"/>
        <c:ser>
          <c:idx val="0"/>
          <c:order val="0"/>
          <c:spPr>
            <a:ln w="28575" cap="rnd" cmpd="sng" algn="ctr">
              <a:solidFill>
                <a:srgbClr val="E21409"/>
              </a:solidFill>
              <a:prstDash val="solid"/>
              <a:round/>
            </a:ln>
          </c:spPr>
          <c:marker>
            <c:symbol val="none"/>
          </c:marker>
          <c:dPt>
            <c:idx val="0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1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2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3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Lbls>
            <c:delete val="1"/>
          </c:dLbls>
          <c:val>
            <c:numRef>
              <c:f>Sheet1!$A$1:$D$1</c:f>
              <c:numCache>
                <c:formatCode>General</c:formatCode>
                <c:ptCount val="4"/>
                <c:pt idx="0">
                  <c:v>14</c:v>
                </c:pt>
                <c:pt idx="1">
                  <c:v>10</c:v>
                </c:pt>
                <c:pt idx="2">
                  <c:v>7</c:v>
                </c:pt>
                <c:pt idx="3">
                  <c:v>16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97748272"/>
        <c:axId val="1"/>
      </c:lineChart>
      <c:catAx>
        <c:axId val="97748272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bg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7748272"/>
        <c:crosses val="min"/>
        <c:crossBetween val="midCat"/>
      </c:valAx>
    </c:plotArea>
    <c:plotVisOnly val="0"/>
    <c:dispBlanksAs val="gap"/>
    <c:showDLblsOverMax val="1"/>
    <c:extLst>
      <c:ext uri="{0b15fc19-7d7d-44ad-8c2d-2c3a37ce22c3}">
        <chartProps xmlns="https://web.wps.cn/et/2018/main" chartId="{479b9394-cf7b-4ed6-9c74-0d580145902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2241555783009"/>
          <c:y val="0.153846153846154"/>
          <c:w val="0.893551688843398"/>
          <c:h val="0.692307692307692"/>
        </c:manualLayout>
      </c:layout>
      <c:lineChart>
        <c:grouping val="standard"/>
        <c:varyColors val="0"/>
        <c:ser>
          <c:idx val="0"/>
          <c:order val="0"/>
          <c:spPr>
            <a:ln w="28575" cap="rnd" cmpd="sng" algn="ctr">
              <a:solidFill>
                <a:srgbClr val="E21409"/>
              </a:solidFill>
              <a:prstDash val="solid"/>
              <a:round/>
            </a:ln>
          </c:spPr>
          <c:marker>
            <c:symbol val="none"/>
          </c:marker>
          <c:dPt>
            <c:idx val="0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1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2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3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Lbls>
            <c:delete val="1"/>
          </c:dLbls>
          <c:val>
            <c:numRef>
              <c:f>Sheet1!$A$1:$D$1</c:f>
              <c:numCache>
                <c:formatCode>General</c:formatCode>
                <c:ptCount val="4"/>
                <c:pt idx="0">
                  <c:v>13</c:v>
                </c:pt>
                <c:pt idx="1">
                  <c:v>7</c:v>
                </c:pt>
                <c:pt idx="2">
                  <c:v>13</c:v>
                </c:pt>
                <c:pt idx="3">
                  <c:v>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97511152"/>
        <c:axId val="1"/>
      </c:lineChart>
      <c:catAx>
        <c:axId val="97511152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bg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7511152"/>
        <c:crosses val="min"/>
        <c:crossBetween val="midCat"/>
      </c:valAx>
    </c:plotArea>
    <c:plotVisOnly val="0"/>
    <c:dispBlanksAs val="gap"/>
    <c:showDLblsOverMax val="1"/>
    <c:extLst>
      <c:ext uri="{0b15fc19-7d7d-44ad-8c2d-2c3a37ce22c3}">
        <chartProps xmlns="https://web.wps.cn/et/2018/main" chartId="{f42b012d-532a-4fdf-bf98-94224e187cc2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04775" y="750888"/>
            <a:ext cx="6680200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918634" y="4758889"/>
            <a:ext cx="5052483" cy="4508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300" rIns="96600" bIns="483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6:notes"/>
          <p:cNvSpPr/>
          <p:nvPr>
            <p:ph type="sldImg" idx="2"/>
          </p:nvPr>
        </p:nvSpPr>
        <p:spPr>
          <a:xfrm>
            <a:off x="104775" y="750888"/>
            <a:ext cx="6680200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6" name="Google Shape;466;p16:notes"/>
          <p:cNvSpPr txBox="1"/>
          <p:nvPr>
            <p:ph type="body" idx="1"/>
          </p:nvPr>
        </p:nvSpPr>
        <p:spPr>
          <a:xfrm>
            <a:off x="918634" y="4758889"/>
            <a:ext cx="5052483" cy="4508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300" rIns="96600" bIns="483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67" name="Google Shape;467;p16:notes"/>
          <p:cNvSpPr txBox="1"/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bg>
      <p:bgPr>
        <a:solidFill>
          <a:srgbClr val="161616"/>
        </a:solidFill>
        <a:effectLst/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60" descr="Immagine che contiene cerchio, Elementi grafici, schermata, Policromia&#10;&#10;Descrizione generata automaticament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19701" y="5015188"/>
            <a:ext cx="392365" cy="3923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60"/>
          <p:cNvGrpSpPr/>
          <p:nvPr/>
        </p:nvGrpSpPr>
        <p:grpSpPr>
          <a:xfrm>
            <a:off x="1261502" y="4926363"/>
            <a:ext cx="1903939" cy="570014"/>
            <a:chOff x="1660200" y="4808813"/>
            <a:chExt cx="1903939" cy="570014"/>
          </a:xfrm>
        </p:grpSpPr>
        <p:sp>
          <p:nvSpPr>
            <p:cNvPr id="34" name="Google Shape;34;p60"/>
            <p:cNvSpPr txBox="1"/>
            <p:nvPr/>
          </p:nvSpPr>
          <p:spPr>
            <a:xfrm>
              <a:off x="1660200" y="4808813"/>
              <a:ext cx="1903939" cy="276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 panose="020B0604020202090204"/>
                <a:buNone/>
              </a:pPr>
              <a:r>
                <a:rPr lang="en-GB" sz="12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Lenovo Laptop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35" name="Google Shape;35;p60"/>
            <p:cNvSpPr txBox="1"/>
            <p:nvPr/>
          </p:nvSpPr>
          <p:spPr>
            <a:xfrm>
              <a:off x="1660200" y="5101832"/>
              <a:ext cx="1903939" cy="276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 panose="020B0604020202090204"/>
                <a:buNone/>
              </a:pPr>
              <a:r>
                <a:rPr lang="en-GB" sz="12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France – August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pic>
        <p:nvPicPr>
          <p:cNvPr id="36" name="Google Shape;36;p6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750381" y="1470283"/>
            <a:ext cx="1364163" cy="436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60" descr="logo_full_rtbh_whit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2263" y="1361623"/>
            <a:ext cx="2347896" cy="60738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0"/>
          <p:cNvSpPr txBox="1"/>
          <p:nvPr/>
        </p:nvSpPr>
        <p:spPr>
          <a:xfrm>
            <a:off x="3206039" y="1665315"/>
            <a:ext cx="358100" cy="255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625" rIns="0" bIns="0" anchor="t" anchorCtr="0">
            <a:spAutoFit/>
          </a:bodyPr>
          <a:lstStyle/>
          <a:p>
            <a:pPr marL="76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 panose="020B0604020202090204"/>
              <a:buNone/>
            </a:pPr>
            <a:r>
              <a:rPr lang="en-GB" sz="16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for</a:t>
            </a:r>
            <a:endParaRPr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9" name="Google Shape;39;p60"/>
          <p:cNvSpPr txBox="1"/>
          <p:nvPr/>
        </p:nvSpPr>
        <p:spPr>
          <a:xfrm>
            <a:off x="243983" y="6585712"/>
            <a:ext cx="4115872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2025 Lenovo Internal. All rights reserved.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575899" y="8618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61" descr="Shape&#10;&#10;Description automatically generated with medium confidenc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170105" y="6564913"/>
            <a:ext cx="908706" cy="23562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1"/>
          <p:cNvSpPr txBox="1"/>
          <p:nvPr/>
        </p:nvSpPr>
        <p:spPr>
          <a:xfrm>
            <a:off x="204521" y="6459090"/>
            <a:ext cx="237244" cy="22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 panose="02000000000000000000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fld>
            <a:endParaRPr sz="8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4" name="Google Shape;44;p61"/>
          <p:cNvSpPr txBox="1"/>
          <p:nvPr/>
        </p:nvSpPr>
        <p:spPr>
          <a:xfrm>
            <a:off x="564225" y="6505218"/>
            <a:ext cx="2411875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000"/>
              <a:buFont typeface="Roboto" panose="02000000000000000000"/>
              <a:buNone/>
            </a:pPr>
            <a:r>
              <a:rPr lang="en-GB" sz="1000" b="0" i="0" u="none" strike="noStrike" cap="none">
                <a:solidFill>
                  <a:srgbClr val="BBBBBB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2025 Lenovo Internal. All rights reserved.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nth">
  <p:cSld name="Month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2" descr="Shape&#10;&#10;Description automatically generated with medium confidenc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170105" y="6564913"/>
            <a:ext cx="908706" cy="23562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2"/>
          <p:cNvSpPr txBox="1"/>
          <p:nvPr/>
        </p:nvSpPr>
        <p:spPr>
          <a:xfrm>
            <a:off x="517887" y="6273220"/>
            <a:ext cx="327967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100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The results shown refer to August 2025.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8" name="Google Shape;48;p62"/>
          <p:cNvSpPr txBox="1"/>
          <p:nvPr/>
        </p:nvSpPr>
        <p:spPr>
          <a:xfrm>
            <a:off x="564225" y="6505218"/>
            <a:ext cx="2411875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000"/>
              <a:buFont typeface="Roboto" panose="02000000000000000000"/>
              <a:buNone/>
            </a:pPr>
            <a:r>
              <a:rPr lang="en-GB" sz="1000" b="0" i="0" u="none" strike="noStrike" cap="none">
                <a:solidFill>
                  <a:srgbClr val="BBBBBB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2025 Lenovo Internal. All rights reserved.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9" name="Google Shape;49;p62"/>
          <p:cNvSpPr txBox="1"/>
          <p:nvPr/>
        </p:nvSpPr>
        <p:spPr>
          <a:xfrm>
            <a:off x="204521" y="6459090"/>
            <a:ext cx="237244" cy="22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 panose="02000000000000000000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fld>
            <a:endParaRPr sz="8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50" name="Google Shape;50;p6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575899" y="86183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Appendix">
  <p:cSld name="5_Appendix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3"/>
          <p:cNvSpPr txBox="1"/>
          <p:nvPr/>
        </p:nvSpPr>
        <p:spPr>
          <a:xfrm>
            <a:off x="204521" y="6459090"/>
            <a:ext cx="237244" cy="22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 panose="02000000000000000000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fld>
            <a:endParaRPr sz="8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53" name="Google Shape;53;p63"/>
          <p:cNvSpPr txBox="1"/>
          <p:nvPr/>
        </p:nvSpPr>
        <p:spPr>
          <a:xfrm>
            <a:off x="564225" y="6505218"/>
            <a:ext cx="2412773" cy="243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000"/>
              <a:buFont typeface="Roboto" panose="02000000000000000000"/>
              <a:buNone/>
            </a:pPr>
            <a:r>
              <a:rPr lang="en-GB" sz="1000" b="0" i="0" u="none" strike="noStrike" cap="none">
                <a:solidFill>
                  <a:srgbClr val="BBBBBB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2025 Lenovo Internal. All rights reserved.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4" name="Google Shape;54;p63"/>
          <p:cNvSpPr/>
          <p:nvPr/>
        </p:nvSpPr>
        <p:spPr>
          <a:xfrm>
            <a:off x="293955" y="3274614"/>
            <a:ext cx="11638654" cy="612000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5" name="Google Shape;55;p63"/>
          <p:cNvSpPr/>
          <p:nvPr/>
        </p:nvSpPr>
        <p:spPr>
          <a:xfrm>
            <a:off x="293955" y="4649796"/>
            <a:ext cx="11638654" cy="612000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pic>
        <p:nvPicPr>
          <p:cNvPr id="56" name="Google Shape;56;p63" descr="Shape&#10;&#10;Description automatically generated with medium confidenc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170105" y="6564913"/>
            <a:ext cx="908706" cy="23562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3"/>
          <p:cNvSpPr/>
          <p:nvPr/>
        </p:nvSpPr>
        <p:spPr>
          <a:xfrm>
            <a:off x="0" y="0"/>
            <a:ext cx="12186378" cy="3077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 panose="020B0604020202090204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LENOVO TOP 5 WITHOUT AFFILIATED INFLUENCERS AND OFFICIAL ACCOUNTS</a:t>
            </a:r>
            <a:endParaRPr sz="1400" b="1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58" name="Google Shape;58;p63"/>
          <p:cNvGrpSpPr/>
          <p:nvPr/>
        </p:nvGrpSpPr>
        <p:grpSpPr>
          <a:xfrm>
            <a:off x="112896" y="0"/>
            <a:ext cx="1015042" cy="411927"/>
            <a:chOff x="2138002" y="1392870"/>
            <a:chExt cx="1189608" cy="439367"/>
          </a:xfrm>
        </p:grpSpPr>
        <p:sp>
          <p:nvSpPr>
            <p:cNvPr id="59" name="Google Shape;59;p63"/>
            <p:cNvSpPr/>
            <p:nvPr/>
          </p:nvSpPr>
          <p:spPr>
            <a:xfrm>
              <a:off x="2138002" y="1392870"/>
              <a:ext cx="1189608" cy="43936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pic>
          <p:nvPicPr>
            <p:cNvPr id="60" name="Google Shape;60;p6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2280307" y="1464084"/>
              <a:ext cx="904998" cy="3016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" name="Google Shape;61;p63"/>
          <p:cNvSpPr txBox="1"/>
          <p:nvPr/>
        </p:nvSpPr>
        <p:spPr>
          <a:xfrm>
            <a:off x="889000" y="1882125"/>
            <a:ext cx="747713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Author*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2" name="Google Shape;62;p63"/>
          <p:cNvSpPr txBox="1"/>
          <p:nvPr/>
        </p:nvSpPr>
        <p:spPr>
          <a:xfrm>
            <a:off x="2245576" y="1882125"/>
            <a:ext cx="749185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Channel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3" name="Google Shape;63;p63"/>
          <p:cNvSpPr txBox="1"/>
          <p:nvPr/>
        </p:nvSpPr>
        <p:spPr>
          <a:xfrm>
            <a:off x="3603625" y="1882125"/>
            <a:ext cx="749300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N. Posts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4" name="Google Shape;64;p63"/>
          <p:cNvSpPr txBox="1"/>
          <p:nvPr/>
        </p:nvSpPr>
        <p:spPr>
          <a:xfrm>
            <a:off x="5699919" y="1882125"/>
            <a:ext cx="749300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Sentiment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5" name="Google Shape;65;p63"/>
          <p:cNvSpPr txBox="1"/>
          <p:nvPr/>
        </p:nvSpPr>
        <p:spPr>
          <a:xfrm>
            <a:off x="7796213" y="1882125"/>
            <a:ext cx="749300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Reach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6" name="Google Shape;66;p63"/>
          <p:cNvSpPr txBox="1"/>
          <p:nvPr/>
        </p:nvSpPr>
        <p:spPr>
          <a:xfrm>
            <a:off x="9066213" y="1882125"/>
            <a:ext cx="901700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Engagement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7" name="Google Shape;67;p63"/>
          <p:cNvSpPr txBox="1"/>
          <p:nvPr/>
        </p:nvSpPr>
        <p:spPr>
          <a:xfrm>
            <a:off x="10537825" y="1805181"/>
            <a:ext cx="968375" cy="40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Engagement impact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8" name="Google Shape;68;p63"/>
          <p:cNvSpPr txBox="1"/>
          <p:nvPr/>
        </p:nvSpPr>
        <p:spPr>
          <a:xfrm>
            <a:off x="7796213" y="1287108"/>
            <a:ext cx="749300" cy="507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53535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n. of people reached by author</a:t>
            </a:r>
            <a:endParaRPr sz="900" b="0" i="0" u="none" strike="noStrike" cap="none">
              <a:solidFill>
                <a:srgbClr val="535353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9" name="Google Shape;69;p63"/>
          <p:cNvSpPr txBox="1"/>
          <p:nvPr/>
        </p:nvSpPr>
        <p:spPr>
          <a:xfrm>
            <a:off x="9028113" y="1287108"/>
            <a:ext cx="977900" cy="369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53535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n. of interactions per author</a:t>
            </a:r>
            <a:endParaRPr sz="900" b="0" i="0" u="none" strike="noStrike" cap="none">
              <a:solidFill>
                <a:srgbClr val="535353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0" name="Google Shape;70;p63"/>
          <p:cNvSpPr txBox="1"/>
          <p:nvPr/>
        </p:nvSpPr>
        <p:spPr>
          <a:xfrm>
            <a:off x="10488613" y="1210164"/>
            <a:ext cx="1066800" cy="507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53535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engagement of the author on the overall brand eng.</a:t>
            </a:r>
            <a:endParaRPr sz="900" b="1" i="0" u="none" strike="noStrike" cap="none">
              <a:solidFill>
                <a:srgbClr val="3E3E3E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Appendix">
  <p:cSld name="6_Appendix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4"/>
          <p:cNvSpPr txBox="1"/>
          <p:nvPr/>
        </p:nvSpPr>
        <p:spPr>
          <a:xfrm>
            <a:off x="204521" y="6459090"/>
            <a:ext cx="237244" cy="22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 panose="02000000000000000000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fld>
            <a:endParaRPr sz="8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73" name="Google Shape;73;p64"/>
          <p:cNvSpPr txBox="1"/>
          <p:nvPr/>
        </p:nvSpPr>
        <p:spPr>
          <a:xfrm>
            <a:off x="564225" y="6505218"/>
            <a:ext cx="2412773" cy="243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000"/>
              <a:buFont typeface="Roboto" panose="02000000000000000000"/>
              <a:buNone/>
            </a:pPr>
            <a:r>
              <a:rPr lang="en-GB" sz="1000" b="0" i="0" u="none" strike="noStrike" cap="none">
                <a:solidFill>
                  <a:srgbClr val="BBBBBB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2025 Lenovo Internal. All rights reserved.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74" name="Google Shape;74;p64" descr="Shape&#10;&#10;Description automatically generated with medium confidenc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170105" y="6564913"/>
            <a:ext cx="908706" cy="23562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4"/>
          <p:cNvSpPr/>
          <p:nvPr/>
        </p:nvSpPr>
        <p:spPr>
          <a:xfrm>
            <a:off x="0" y="0"/>
            <a:ext cx="12186378" cy="3077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 panose="020B0604020202090204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Link</a:t>
            </a:r>
            <a:endParaRPr sz="1400" b="1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76" name="Google Shape;76;p64"/>
          <p:cNvGrpSpPr/>
          <p:nvPr/>
        </p:nvGrpSpPr>
        <p:grpSpPr>
          <a:xfrm>
            <a:off x="112896" y="0"/>
            <a:ext cx="1015042" cy="411927"/>
            <a:chOff x="2138002" y="1392870"/>
            <a:chExt cx="1189608" cy="439367"/>
          </a:xfrm>
        </p:grpSpPr>
        <p:sp>
          <p:nvSpPr>
            <p:cNvPr id="77" name="Google Shape;77;p64"/>
            <p:cNvSpPr/>
            <p:nvPr/>
          </p:nvSpPr>
          <p:spPr>
            <a:xfrm>
              <a:off x="2138002" y="1392870"/>
              <a:ext cx="1189608" cy="43936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pic>
          <p:nvPicPr>
            <p:cNvPr id="78" name="Google Shape;78;p6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2280307" y="1464084"/>
              <a:ext cx="904998" cy="3016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9" name="Google Shape;79;p64"/>
          <p:cNvSpPr/>
          <p:nvPr/>
        </p:nvSpPr>
        <p:spPr>
          <a:xfrm>
            <a:off x="293955" y="2952750"/>
            <a:ext cx="11638654" cy="611188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80" name="Google Shape;80;p64"/>
          <p:cNvSpPr/>
          <p:nvPr/>
        </p:nvSpPr>
        <p:spPr>
          <a:xfrm>
            <a:off x="293955" y="4479925"/>
            <a:ext cx="11638654" cy="612775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81" name="Google Shape;81;p64"/>
          <p:cNvSpPr txBox="1"/>
          <p:nvPr/>
        </p:nvSpPr>
        <p:spPr>
          <a:xfrm>
            <a:off x="889000" y="1357027"/>
            <a:ext cx="747713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Author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2" name="Google Shape;82;p64"/>
          <p:cNvSpPr txBox="1"/>
          <p:nvPr/>
        </p:nvSpPr>
        <p:spPr>
          <a:xfrm>
            <a:off x="4463706" y="1357027"/>
            <a:ext cx="749300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Link 1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3" name="Google Shape;83;p64"/>
          <p:cNvSpPr txBox="1"/>
          <p:nvPr/>
        </p:nvSpPr>
        <p:spPr>
          <a:xfrm>
            <a:off x="8975725" y="1357027"/>
            <a:ext cx="749300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Link 2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_appendix">
  <p:cSld name="Cover_appendix">
    <p:bg>
      <p:bgPr>
        <a:solidFill>
          <a:srgbClr val="161616"/>
        </a:solidFill>
        <a:effectLst/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5" descr="Immagine che contiene cerchio, Elementi grafici, schermata, Policromia&#10;&#10;Descrizione generata automaticament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19701" y="5015188"/>
            <a:ext cx="392365" cy="3923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65"/>
          <p:cNvGrpSpPr/>
          <p:nvPr/>
        </p:nvGrpSpPr>
        <p:grpSpPr>
          <a:xfrm>
            <a:off x="1261502" y="4926363"/>
            <a:ext cx="1903939" cy="570014"/>
            <a:chOff x="1660200" y="4808813"/>
            <a:chExt cx="1903939" cy="570014"/>
          </a:xfrm>
        </p:grpSpPr>
        <p:sp>
          <p:nvSpPr>
            <p:cNvPr id="87" name="Google Shape;87;p65"/>
            <p:cNvSpPr txBox="1"/>
            <p:nvPr/>
          </p:nvSpPr>
          <p:spPr>
            <a:xfrm>
              <a:off x="1660200" y="4808813"/>
              <a:ext cx="1903939" cy="276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 panose="020B0604020202090204"/>
                <a:buNone/>
              </a:pPr>
              <a:r>
                <a:rPr lang="en-GB" sz="12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Lenovo Laptop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88" name="Google Shape;88;p65"/>
            <p:cNvSpPr txBox="1"/>
            <p:nvPr/>
          </p:nvSpPr>
          <p:spPr>
            <a:xfrm>
              <a:off x="1660200" y="5101832"/>
              <a:ext cx="1903939" cy="276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 panose="020B0604020202090204"/>
                <a:buNone/>
              </a:pPr>
              <a:r>
                <a:rPr lang="en-GB" sz="12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France – August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89" name="Google Shape;89;p65"/>
          <p:cNvSpPr txBox="1"/>
          <p:nvPr/>
        </p:nvSpPr>
        <p:spPr>
          <a:xfrm>
            <a:off x="243983" y="6585712"/>
            <a:ext cx="4115872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2025 Lenovo Internal. All rights reserved.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90" name="Google Shape;90;p6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633081" y="1216733"/>
            <a:ext cx="847805" cy="27129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5"/>
          <p:cNvSpPr txBox="1"/>
          <p:nvPr/>
        </p:nvSpPr>
        <p:spPr>
          <a:xfrm>
            <a:off x="2286313" y="1297788"/>
            <a:ext cx="263781" cy="191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 panose="02000000000000000000"/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for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92" name="Google Shape;92;p65" descr="logo_full_rtbh_whit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5000" y="1099488"/>
            <a:ext cx="1591426" cy="411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9"/>
          <p:cNvSpPr txBox="1"/>
          <p:nvPr>
            <p:ph type="sldNum" idx="12"/>
          </p:nvPr>
        </p:nvSpPr>
        <p:spPr>
          <a:xfrm>
            <a:off x="11695092" y="6504029"/>
            <a:ext cx="260645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9" name="Google Shape;29;p59"/>
          <p:cNvSpPr txBox="1"/>
          <p:nvPr>
            <p:ph type="title"/>
          </p:nvPr>
        </p:nvSpPr>
        <p:spPr>
          <a:xfrm>
            <a:off x="564225" y="365125"/>
            <a:ext cx="10515601" cy="31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30" name="Google Shape;30;p59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chart" Target="../charts/chart7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6"/>
          <p:cNvSpPr/>
          <p:nvPr/>
        </p:nvSpPr>
        <p:spPr>
          <a:xfrm>
            <a:off x="2362241" y="3429000"/>
            <a:ext cx="7394714" cy="2801297"/>
          </a:xfrm>
          <a:prstGeom prst="roundRect">
            <a:avLst>
              <a:gd name="adj" fmla="val 7106"/>
            </a:avLst>
          </a:prstGeom>
          <a:solidFill>
            <a:srgbClr val="FFFFFF"/>
          </a:solidFill>
          <a:ln w="12700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3001963" y="4741376"/>
            <a:ext cx="6186488" cy="143857"/>
          </a:xfrm>
          <a:prstGeom prst="roundRect">
            <a:avLst>
              <a:gd name="adj" fmla="val 7106"/>
            </a:avLst>
          </a:prstGeom>
          <a:noFill/>
          <a:ln>
            <a:noFill/>
          </a:ln>
        </p:spPr>
        <p:txBody>
          <a:bodyPr spcFirstLastPara="1" wrap="square" lIns="0" tIns="0" rIns="3600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endParaRPr sz="900" b="0" i="0" u="none" strike="noStrike" cap="none">
              <a:solidFill>
                <a:srgbClr val="3F3F3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2337683" y="858935"/>
            <a:ext cx="7394714" cy="2380702"/>
          </a:xfrm>
          <a:prstGeom prst="roundRect">
            <a:avLst>
              <a:gd name="adj" fmla="val 7106"/>
            </a:avLst>
          </a:prstGeom>
          <a:solidFill>
            <a:srgbClr val="FFFFFF"/>
          </a:solidFill>
          <a:ln w="12700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6"/>
          <p:cNvSpPr txBox="1"/>
          <p:nvPr/>
        </p:nvSpPr>
        <p:spPr>
          <a:xfrm>
            <a:off x="335471" y="157390"/>
            <a:ext cx="11664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400"/>
              <a:buFont typeface="Arial" panose="020B0604020202090204"/>
              <a:buNone/>
            </a:pPr>
            <a:r>
              <a:rPr lang="en-GB" sz="2400" b="0" i="0" u="none" strike="noStrike" cap="none">
                <a:solidFill>
                  <a:srgbClr val="08080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Lenovo Share of Voice Trend – August '25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473" name="Google Shape;473;p16" descr="np_chat_6286553_09215F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2473527" y="908265"/>
            <a:ext cx="468313" cy="4683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4" name="Google Shape;474;p16"/>
          <p:cNvGrpSpPr/>
          <p:nvPr/>
        </p:nvGrpSpPr>
        <p:grpSpPr>
          <a:xfrm>
            <a:off x="3159125" y="3880837"/>
            <a:ext cx="906463" cy="169863"/>
            <a:chOff x="1044363" y="3880837"/>
            <a:chExt cx="905757" cy="169863"/>
          </a:xfrm>
        </p:grpSpPr>
        <p:sp>
          <p:nvSpPr>
            <p:cNvPr id="475" name="Google Shape;475;p16"/>
            <p:cNvSpPr txBox="1"/>
            <p:nvPr/>
          </p:nvSpPr>
          <p:spPr>
            <a:xfrm>
              <a:off x="1338120" y="3890362"/>
              <a:ext cx="612000" cy="1508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Roboto" panose="02000000000000000000"/>
                <a:buNone/>
              </a:pPr>
              <a:r>
                <a:rPr lang="en-GB" sz="1200" b="0" i="0" u="none" strike="noStrike" cap="none">
                  <a:solidFill>
                    <a:srgbClr val="000000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Forum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1044363" y="3880837"/>
              <a:ext cx="215203" cy="16986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7153" y="8000"/>
                  </a:moveTo>
                  <a:cubicBezTo>
                    <a:pt x="17153" y="12400"/>
                    <a:pt x="13341" y="15600"/>
                    <a:pt x="8576" y="15600"/>
                  </a:cubicBezTo>
                  <a:cubicBezTo>
                    <a:pt x="7941" y="15600"/>
                    <a:pt x="7306" y="15600"/>
                    <a:pt x="6353" y="15600"/>
                  </a:cubicBezTo>
                  <a:cubicBezTo>
                    <a:pt x="5400" y="16400"/>
                    <a:pt x="4447" y="17200"/>
                    <a:pt x="3176" y="17600"/>
                  </a:cubicBezTo>
                  <a:cubicBezTo>
                    <a:pt x="2859" y="17600"/>
                    <a:pt x="2541" y="17600"/>
                    <a:pt x="2224" y="17600"/>
                  </a:cubicBezTo>
                  <a:cubicBezTo>
                    <a:pt x="2224" y="17600"/>
                    <a:pt x="2224" y="17600"/>
                    <a:pt x="2224" y="17600"/>
                  </a:cubicBezTo>
                  <a:cubicBezTo>
                    <a:pt x="1906" y="17600"/>
                    <a:pt x="1588" y="17600"/>
                    <a:pt x="1588" y="17200"/>
                  </a:cubicBezTo>
                  <a:cubicBezTo>
                    <a:pt x="1588" y="16800"/>
                    <a:pt x="1906" y="16800"/>
                    <a:pt x="1906" y="16400"/>
                  </a:cubicBezTo>
                  <a:cubicBezTo>
                    <a:pt x="2541" y="16000"/>
                    <a:pt x="2859" y="15200"/>
                    <a:pt x="3494" y="14000"/>
                  </a:cubicBezTo>
                  <a:cubicBezTo>
                    <a:pt x="1271" y="12800"/>
                    <a:pt x="0" y="10400"/>
                    <a:pt x="0" y="8000"/>
                  </a:cubicBezTo>
                  <a:cubicBezTo>
                    <a:pt x="0" y="3600"/>
                    <a:pt x="3812" y="0"/>
                    <a:pt x="8576" y="0"/>
                  </a:cubicBezTo>
                  <a:cubicBezTo>
                    <a:pt x="13341" y="0"/>
                    <a:pt x="17153" y="3600"/>
                    <a:pt x="17153" y="8000"/>
                  </a:cubicBezTo>
                  <a:close/>
                  <a:moveTo>
                    <a:pt x="1588" y="8000"/>
                  </a:moveTo>
                  <a:cubicBezTo>
                    <a:pt x="1588" y="9600"/>
                    <a:pt x="2541" y="11200"/>
                    <a:pt x="4129" y="12400"/>
                  </a:cubicBezTo>
                  <a:cubicBezTo>
                    <a:pt x="5400" y="13200"/>
                    <a:pt x="5400" y="13200"/>
                    <a:pt x="5400" y="13200"/>
                  </a:cubicBezTo>
                  <a:cubicBezTo>
                    <a:pt x="4765" y="14400"/>
                    <a:pt x="4765" y="14400"/>
                    <a:pt x="4765" y="14400"/>
                  </a:cubicBezTo>
                  <a:cubicBezTo>
                    <a:pt x="5082" y="14400"/>
                    <a:pt x="5400" y="14000"/>
                    <a:pt x="5718" y="14000"/>
                  </a:cubicBezTo>
                  <a:cubicBezTo>
                    <a:pt x="6035" y="13600"/>
                    <a:pt x="6035" y="13600"/>
                    <a:pt x="6035" y="13600"/>
                  </a:cubicBezTo>
                  <a:cubicBezTo>
                    <a:pt x="6671" y="13600"/>
                    <a:pt x="6671" y="13600"/>
                    <a:pt x="6671" y="13600"/>
                  </a:cubicBezTo>
                  <a:cubicBezTo>
                    <a:pt x="7306" y="13600"/>
                    <a:pt x="7941" y="13600"/>
                    <a:pt x="8576" y="13600"/>
                  </a:cubicBezTo>
                  <a:cubicBezTo>
                    <a:pt x="12388" y="13600"/>
                    <a:pt x="15565" y="11200"/>
                    <a:pt x="15565" y="8000"/>
                  </a:cubicBezTo>
                  <a:cubicBezTo>
                    <a:pt x="15565" y="4800"/>
                    <a:pt x="12388" y="2000"/>
                    <a:pt x="8576" y="2000"/>
                  </a:cubicBezTo>
                  <a:cubicBezTo>
                    <a:pt x="4765" y="2000"/>
                    <a:pt x="1588" y="4800"/>
                    <a:pt x="1588" y="8000"/>
                  </a:cubicBezTo>
                  <a:close/>
                  <a:moveTo>
                    <a:pt x="20012" y="20400"/>
                  </a:moveTo>
                  <a:cubicBezTo>
                    <a:pt x="20012" y="20800"/>
                    <a:pt x="20329" y="20800"/>
                    <a:pt x="20329" y="21200"/>
                  </a:cubicBezTo>
                  <a:cubicBezTo>
                    <a:pt x="20012" y="21200"/>
                    <a:pt x="20012" y="21600"/>
                    <a:pt x="19694" y="21600"/>
                  </a:cubicBezTo>
                  <a:cubicBezTo>
                    <a:pt x="19376" y="21600"/>
                    <a:pt x="19059" y="21600"/>
                    <a:pt x="18741" y="21200"/>
                  </a:cubicBezTo>
                  <a:cubicBezTo>
                    <a:pt x="17471" y="20800"/>
                    <a:pt x="16518" y="20400"/>
                    <a:pt x="15247" y="19200"/>
                  </a:cubicBezTo>
                  <a:cubicBezTo>
                    <a:pt x="14612" y="19600"/>
                    <a:pt x="13976" y="19600"/>
                    <a:pt x="13341" y="19600"/>
                  </a:cubicBezTo>
                  <a:cubicBezTo>
                    <a:pt x="11118" y="19600"/>
                    <a:pt x="9212" y="18800"/>
                    <a:pt x="7624" y="17600"/>
                  </a:cubicBezTo>
                  <a:cubicBezTo>
                    <a:pt x="7941" y="17600"/>
                    <a:pt x="8259" y="17600"/>
                    <a:pt x="8576" y="17600"/>
                  </a:cubicBezTo>
                  <a:cubicBezTo>
                    <a:pt x="11118" y="17600"/>
                    <a:pt x="13659" y="16800"/>
                    <a:pt x="15565" y="15200"/>
                  </a:cubicBezTo>
                  <a:cubicBezTo>
                    <a:pt x="17471" y="13200"/>
                    <a:pt x="18741" y="10800"/>
                    <a:pt x="18741" y="8000"/>
                  </a:cubicBezTo>
                  <a:cubicBezTo>
                    <a:pt x="18741" y="7200"/>
                    <a:pt x="18424" y="6400"/>
                    <a:pt x="18424" y="5600"/>
                  </a:cubicBezTo>
                  <a:cubicBezTo>
                    <a:pt x="20329" y="7200"/>
                    <a:pt x="21600" y="9200"/>
                    <a:pt x="21600" y="12000"/>
                  </a:cubicBezTo>
                  <a:cubicBezTo>
                    <a:pt x="21600" y="14400"/>
                    <a:pt x="20647" y="16400"/>
                    <a:pt x="18424" y="18000"/>
                  </a:cubicBezTo>
                  <a:cubicBezTo>
                    <a:pt x="19059" y="19200"/>
                    <a:pt x="19376" y="19600"/>
                    <a:pt x="20012" y="20400"/>
                  </a:cubicBezTo>
                  <a:close/>
                </a:path>
              </a:pathLst>
            </a:custGeom>
            <a:solidFill>
              <a:srgbClr val="53585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 panose="020B0604020202090204"/>
                <a:buNone/>
              </a:pPr>
              <a:endParaRPr sz="15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477" name="Google Shape;477;p16"/>
          <p:cNvGrpSpPr/>
          <p:nvPr/>
        </p:nvGrpSpPr>
        <p:grpSpPr>
          <a:xfrm>
            <a:off x="5337175" y="3872106"/>
            <a:ext cx="1346200" cy="187325"/>
            <a:chOff x="2667421" y="3872106"/>
            <a:chExt cx="1345243" cy="187325"/>
          </a:xfrm>
        </p:grpSpPr>
        <p:sp>
          <p:nvSpPr>
            <p:cNvPr id="478" name="Google Shape;478;p16"/>
            <p:cNvSpPr txBox="1"/>
            <p:nvPr/>
          </p:nvSpPr>
          <p:spPr>
            <a:xfrm>
              <a:off x="2961177" y="3873435"/>
              <a:ext cx="1051487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Roboto" panose="02000000000000000000"/>
                <a:buNone/>
              </a:pPr>
              <a:r>
                <a:rPr lang="en-GB" sz="1200" b="0" i="0" u="none" strike="noStrike" cap="none">
                  <a:solidFill>
                    <a:srgbClr val="000000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Online News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2667421" y="3872106"/>
              <a:ext cx="184460" cy="18732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00" y="0"/>
                  </a:moveTo>
                  <a:cubicBezTo>
                    <a:pt x="4759" y="0"/>
                    <a:pt x="0" y="4901"/>
                    <a:pt x="0" y="10709"/>
                  </a:cubicBezTo>
                  <a:cubicBezTo>
                    <a:pt x="0" y="16699"/>
                    <a:pt x="4759" y="21600"/>
                    <a:pt x="10800" y="21600"/>
                  </a:cubicBezTo>
                  <a:cubicBezTo>
                    <a:pt x="16841" y="21600"/>
                    <a:pt x="21600" y="16699"/>
                    <a:pt x="21600" y="10709"/>
                  </a:cubicBezTo>
                  <a:cubicBezTo>
                    <a:pt x="21600" y="4901"/>
                    <a:pt x="16841" y="0"/>
                    <a:pt x="10800" y="0"/>
                  </a:cubicBezTo>
                  <a:close/>
                  <a:moveTo>
                    <a:pt x="20319" y="10346"/>
                  </a:moveTo>
                  <a:cubicBezTo>
                    <a:pt x="16108" y="10346"/>
                    <a:pt x="16108" y="10346"/>
                    <a:pt x="16108" y="10346"/>
                  </a:cubicBezTo>
                  <a:cubicBezTo>
                    <a:pt x="15925" y="8894"/>
                    <a:pt x="15742" y="7442"/>
                    <a:pt x="15193" y="5990"/>
                  </a:cubicBezTo>
                  <a:cubicBezTo>
                    <a:pt x="16108" y="5627"/>
                    <a:pt x="17024" y="5082"/>
                    <a:pt x="17939" y="4538"/>
                  </a:cubicBezTo>
                  <a:cubicBezTo>
                    <a:pt x="19220" y="6171"/>
                    <a:pt x="20136" y="8168"/>
                    <a:pt x="20319" y="10346"/>
                  </a:cubicBezTo>
                  <a:close/>
                  <a:moveTo>
                    <a:pt x="10434" y="20148"/>
                  </a:moveTo>
                  <a:cubicBezTo>
                    <a:pt x="9153" y="19240"/>
                    <a:pt x="8237" y="17970"/>
                    <a:pt x="7505" y="16518"/>
                  </a:cubicBezTo>
                  <a:cubicBezTo>
                    <a:pt x="8420" y="16155"/>
                    <a:pt x="9519" y="15973"/>
                    <a:pt x="10434" y="15973"/>
                  </a:cubicBezTo>
                  <a:cubicBezTo>
                    <a:pt x="10434" y="20148"/>
                    <a:pt x="10434" y="20148"/>
                    <a:pt x="10434" y="20148"/>
                  </a:cubicBezTo>
                  <a:cubicBezTo>
                    <a:pt x="10434" y="20148"/>
                    <a:pt x="10434" y="20148"/>
                    <a:pt x="10434" y="20148"/>
                  </a:cubicBezTo>
                  <a:close/>
                  <a:moveTo>
                    <a:pt x="11166" y="1452"/>
                  </a:moveTo>
                  <a:cubicBezTo>
                    <a:pt x="12447" y="2541"/>
                    <a:pt x="13546" y="3993"/>
                    <a:pt x="14278" y="5627"/>
                  </a:cubicBezTo>
                  <a:cubicBezTo>
                    <a:pt x="13363" y="5990"/>
                    <a:pt x="12264" y="6171"/>
                    <a:pt x="11166" y="6171"/>
                  </a:cubicBezTo>
                  <a:cubicBezTo>
                    <a:pt x="11166" y="1452"/>
                    <a:pt x="11166" y="1452"/>
                    <a:pt x="11166" y="1452"/>
                  </a:cubicBezTo>
                  <a:cubicBezTo>
                    <a:pt x="11166" y="1452"/>
                    <a:pt x="11166" y="1452"/>
                    <a:pt x="11166" y="1452"/>
                  </a:cubicBezTo>
                  <a:close/>
                  <a:moveTo>
                    <a:pt x="12264" y="1452"/>
                  </a:moveTo>
                  <a:cubicBezTo>
                    <a:pt x="14278" y="1815"/>
                    <a:pt x="16108" y="2723"/>
                    <a:pt x="17390" y="3993"/>
                  </a:cubicBezTo>
                  <a:cubicBezTo>
                    <a:pt x="16658" y="4538"/>
                    <a:pt x="15925" y="5082"/>
                    <a:pt x="15010" y="5445"/>
                  </a:cubicBezTo>
                  <a:cubicBezTo>
                    <a:pt x="14278" y="3993"/>
                    <a:pt x="13363" y="2541"/>
                    <a:pt x="12264" y="1452"/>
                  </a:cubicBezTo>
                  <a:close/>
                  <a:moveTo>
                    <a:pt x="10434" y="1452"/>
                  </a:moveTo>
                  <a:cubicBezTo>
                    <a:pt x="10434" y="6171"/>
                    <a:pt x="10434" y="6171"/>
                    <a:pt x="10434" y="6171"/>
                  </a:cubicBezTo>
                  <a:cubicBezTo>
                    <a:pt x="9336" y="6171"/>
                    <a:pt x="8237" y="5990"/>
                    <a:pt x="7322" y="5627"/>
                  </a:cubicBezTo>
                  <a:cubicBezTo>
                    <a:pt x="8054" y="3993"/>
                    <a:pt x="9153" y="2541"/>
                    <a:pt x="10434" y="1452"/>
                  </a:cubicBezTo>
                  <a:cubicBezTo>
                    <a:pt x="10434" y="1452"/>
                    <a:pt x="10434" y="1452"/>
                    <a:pt x="10434" y="1452"/>
                  </a:cubicBezTo>
                  <a:close/>
                  <a:moveTo>
                    <a:pt x="6590" y="5445"/>
                  </a:moveTo>
                  <a:cubicBezTo>
                    <a:pt x="5675" y="5082"/>
                    <a:pt x="4942" y="4538"/>
                    <a:pt x="4210" y="3993"/>
                  </a:cubicBezTo>
                  <a:cubicBezTo>
                    <a:pt x="5492" y="2723"/>
                    <a:pt x="7322" y="1815"/>
                    <a:pt x="9153" y="1452"/>
                  </a:cubicBezTo>
                  <a:cubicBezTo>
                    <a:pt x="8237" y="2541"/>
                    <a:pt x="7322" y="3993"/>
                    <a:pt x="6590" y="5445"/>
                  </a:cubicBezTo>
                  <a:close/>
                  <a:moveTo>
                    <a:pt x="6956" y="6353"/>
                  </a:moveTo>
                  <a:cubicBezTo>
                    <a:pt x="8054" y="6716"/>
                    <a:pt x="9153" y="6897"/>
                    <a:pt x="10434" y="6897"/>
                  </a:cubicBezTo>
                  <a:cubicBezTo>
                    <a:pt x="10434" y="10346"/>
                    <a:pt x="10434" y="10346"/>
                    <a:pt x="10434" y="10346"/>
                  </a:cubicBezTo>
                  <a:cubicBezTo>
                    <a:pt x="6224" y="10346"/>
                    <a:pt x="6224" y="10346"/>
                    <a:pt x="6224" y="10346"/>
                  </a:cubicBezTo>
                  <a:cubicBezTo>
                    <a:pt x="6224" y="8894"/>
                    <a:pt x="6590" y="7624"/>
                    <a:pt x="6956" y="6353"/>
                  </a:cubicBezTo>
                  <a:close/>
                  <a:moveTo>
                    <a:pt x="10434" y="11072"/>
                  </a:moveTo>
                  <a:cubicBezTo>
                    <a:pt x="10434" y="15247"/>
                    <a:pt x="10434" y="15247"/>
                    <a:pt x="10434" y="15247"/>
                  </a:cubicBezTo>
                  <a:cubicBezTo>
                    <a:pt x="9336" y="15429"/>
                    <a:pt x="8237" y="15610"/>
                    <a:pt x="7322" y="15792"/>
                  </a:cubicBezTo>
                  <a:cubicBezTo>
                    <a:pt x="6590" y="14339"/>
                    <a:pt x="6224" y="12887"/>
                    <a:pt x="6224" y="11072"/>
                  </a:cubicBezTo>
                  <a:lnTo>
                    <a:pt x="10434" y="11072"/>
                  </a:lnTo>
                  <a:close/>
                  <a:moveTo>
                    <a:pt x="9153" y="19966"/>
                  </a:moveTo>
                  <a:cubicBezTo>
                    <a:pt x="7505" y="19785"/>
                    <a:pt x="5858" y="19059"/>
                    <a:pt x="4576" y="17970"/>
                  </a:cubicBezTo>
                  <a:cubicBezTo>
                    <a:pt x="5308" y="17425"/>
                    <a:pt x="6041" y="17062"/>
                    <a:pt x="6956" y="16699"/>
                  </a:cubicBezTo>
                  <a:cubicBezTo>
                    <a:pt x="7505" y="17970"/>
                    <a:pt x="8237" y="19059"/>
                    <a:pt x="9153" y="19966"/>
                  </a:cubicBezTo>
                  <a:close/>
                  <a:moveTo>
                    <a:pt x="11166" y="20148"/>
                  </a:moveTo>
                  <a:cubicBezTo>
                    <a:pt x="11166" y="15973"/>
                    <a:pt x="11166" y="15973"/>
                    <a:pt x="11166" y="15973"/>
                  </a:cubicBezTo>
                  <a:cubicBezTo>
                    <a:pt x="12081" y="15973"/>
                    <a:pt x="13180" y="16155"/>
                    <a:pt x="14095" y="16518"/>
                  </a:cubicBezTo>
                  <a:cubicBezTo>
                    <a:pt x="13363" y="17970"/>
                    <a:pt x="12264" y="19240"/>
                    <a:pt x="11166" y="20148"/>
                  </a:cubicBezTo>
                  <a:cubicBezTo>
                    <a:pt x="11166" y="20148"/>
                    <a:pt x="11166" y="20148"/>
                    <a:pt x="11166" y="20148"/>
                  </a:cubicBezTo>
                  <a:close/>
                  <a:moveTo>
                    <a:pt x="14644" y="16699"/>
                  </a:moveTo>
                  <a:cubicBezTo>
                    <a:pt x="15559" y="17062"/>
                    <a:pt x="16292" y="17425"/>
                    <a:pt x="17024" y="17970"/>
                  </a:cubicBezTo>
                  <a:cubicBezTo>
                    <a:pt x="15742" y="19059"/>
                    <a:pt x="14095" y="19785"/>
                    <a:pt x="12264" y="19966"/>
                  </a:cubicBezTo>
                  <a:cubicBezTo>
                    <a:pt x="13363" y="19059"/>
                    <a:pt x="14095" y="17970"/>
                    <a:pt x="14644" y="16699"/>
                  </a:cubicBezTo>
                  <a:close/>
                  <a:moveTo>
                    <a:pt x="14278" y="15792"/>
                  </a:moveTo>
                  <a:cubicBezTo>
                    <a:pt x="13363" y="15610"/>
                    <a:pt x="12264" y="15429"/>
                    <a:pt x="11166" y="15247"/>
                  </a:cubicBezTo>
                  <a:cubicBezTo>
                    <a:pt x="11166" y="11072"/>
                    <a:pt x="11166" y="11072"/>
                    <a:pt x="11166" y="11072"/>
                  </a:cubicBezTo>
                  <a:cubicBezTo>
                    <a:pt x="15376" y="11072"/>
                    <a:pt x="15376" y="11072"/>
                    <a:pt x="15376" y="11072"/>
                  </a:cubicBezTo>
                  <a:cubicBezTo>
                    <a:pt x="15376" y="12887"/>
                    <a:pt x="15010" y="14339"/>
                    <a:pt x="14278" y="15792"/>
                  </a:cubicBezTo>
                  <a:close/>
                  <a:moveTo>
                    <a:pt x="11166" y="10346"/>
                  </a:moveTo>
                  <a:cubicBezTo>
                    <a:pt x="11166" y="6897"/>
                    <a:pt x="11166" y="6897"/>
                    <a:pt x="11166" y="6897"/>
                  </a:cubicBezTo>
                  <a:cubicBezTo>
                    <a:pt x="12264" y="6897"/>
                    <a:pt x="13546" y="6716"/>
                    <a:pt x="14644" y="6353"/>
                  </a:cubicBezTo>
                  <a:cubicBezTo>
                    <a:pt x="15010" y="7624"/>
                    <a:pt x="15376" y="8894"/>
                    <a:pt x="15376" y="10346"/>
                  </a:cubicBezTo>
                  <a:lnTo>
                    <a:pt x="11166" y="10346"/>
                  </a:lnTo>
                  <a:close/>
                  <a:moveTo>
                    <a:pt x="3661" y="4538"/>
                  </a:moveTo>
                  <a:cubicBezTo>
                    <a:pt x="4576" y="5082"/>
                    <a:pt x="5492" y="5627"/>
                    <a:pt x="6407" y="5990"/>
                  </a:cubicBezTo>
                  <a:cubicBezTo>
                    <a:pt x="5858" y="7442"/>
                    <a:pt x="5492" y="8894"/>
                    <a:pt x="5492" y="10346"/>
                  </a:cubicBezTo>
                  <a:cubicBezTo>
                    <a:pt x="1281" y="10346"/>
                    <a:pt x="1281" y="10346"/>
                    <a:pt x="1281" y="10346"/>
                  </a:cubicBezTo>
                  <a:cubicBezTo>
                    <a:pt x="1464" y="8168"/>
                    <a:pt x="2380" y="6171"/>
                    <a:pt x="3661" y="4538"/>
                  </a:cubicBezTo>
                  <a:close/>
                  <a:moveTo>
                    <a:pt x="1281" y="11072"/>
                  </a:moveTo>
                  <a:cubicBezTo>
                    <a:pt x="5492" y="11072"/>
                    <a:pt x="5492" y="11072"/>
                    <a:pt x="5492" y="11072"/>
                  </a:cubicBezTo>
                  <a:cubicBezTo>
                    <a:pt x="5675" y="12887"/>
                    <a:pt x="6041" y="14521"/>
                    <a:pt x="6590" y="16155"/>
                  </a:cubicBezTo>
                  <a:cubicBezTo>
                    <a:pt x="5675" y="16518"/>
                    <a:pt x="4942" y="16881"/>
                    <a:pt x="4027" y="17425"/>
                  </a:cubicBezTo>
                  <a:cubicBezTo>
                    <a:pt x="2380" y="15792"/>
                    <a:pt x="1464" y="13613"/>
                    <a:pt x="1281" y="11072"/>
                  </a:cubicBezTo>
                  <a:close/>
                  <a:moveTo>
                    <a:pt x="17390" y="17425"/>
                  </a:moveTo>
                  <a:cubicBezTo>
                    <a:pt x="16658" y="16881"/>
                    <a:pt x="15925" y="16518"/>
                    <a:pt x="15010" y="16155"/>
                  </a:cubicBezTo>
                  <a:cubicBezTo>
                    <a:pt x="15559" y="14521"/>
                    <a:pt x="15925" y="12887"/>
                    <a:pt x="16108" y="11072"/>
                  </a:cubicBezTo>
                  <a:cubicBezTo>
                    <a:pt x="20319" y="11072"/>
                    <a:pt x="20319" y="11072"/>
                    <a:pt x="20319" y="11072"/>
                  </a:cubicBezTo>
                  <a:cubicBezTo>
                    <a:pt x="20136" y="13613"/>
                    <a:pt x="19037" y="15792"/>
                    <a:pt x="17390" y="17425"/>
                  </a:cubicBezTo>
                  <a:close/>
                  <a:moveTo>
                    <a:pt x="17390" y="17425"/>
                  </a:moveTo>
                  <a:cubicBezTo>
                    <a:pt x="17390" y="17425"/>
                    <a:pt x="17390" y="17425"/>
                    <a:pt x="17390" y="17425"/>
                  </a:cubicBezTo>
                </a:path>
              </a:pathLst>
            </a:custGeom>
            <a:solidFill>
              <a:srgbClr val="53585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 panose="020B0604020202090204"/>
                <a:buNone/>
              </a:pPr>
              <a:endParaRPr sz="15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480" name="Google Shape;480;p16"/>
          <p:cNvGrpSpPr/>
          <p:nvPr/>
        </p:nvGrpSpPr>
        <p:grpSpPr>
          <a:xfrm>
            <a:off x="7954963" y="3856231"/>
            <a:ext cx="906463" cy="219075"/>
            <a:chOff x="4709287" y="3856231"/>
            <a:chExt cx="905757" cy="219075"/>
          </a:xfrm>
        </p:grpSpPr>
        <p:sp>
          <p:nvSpPr>
            <p:cNvPr id="481" name="Google Shape;481;p16"/>
            <p:cNvSpPr txBox="1"/>
            <p:nvPr/>
          </p:nvSpPr>
          <p:spPr>
            <a:xfrm>
              <a:off x="5003044" y="3856231"/>
              <a:ext cx="612000" cy="219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Roboto" panose="02000000000000000000"/>
                <a:buNone/>
              </a:pPr>
              <a:r>
                <a:rPr lang="en-GB" sz="1200" b="0" i="0" u="none" strike="noStrike" cap="none">
                  <a:solidFill>
                    <a:srgbClr val="000000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Blog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4709287" y="3881631"/>
              <a:ext cx="213521" cy="168275"/>
            </a:xfrm>
            <a:custGeom>
              <a:avLst/>
              <a:gdLst/>
              <a:ahLst/>
              <a:cxnLst/>
              <a:rect l="l" t="t" r="r" b="b"/>
              <a:pathLst>
                <a:path w="21431" h="21388" extrusionOk="0">
                  <a:moveTo>
                    <a:pt x="16875" y="17153"/>
                  </a:moveTo>
                  <a:cubicBezTo>
                    <a:pt x="16875" y="19270"/>
                    <a:pt x="15187" y="21388"/>
                    <a:pt x="13500" y="21388"/>
                  </a:cubicBezTo>
                  <a:cubicBezTo>
                    <a:pt x="3375" y="21388"/>
                    <a:pt x="3375" y="21388"/>
                    <a:pt x="3375" y="21388"/>
                  </a:cubicBezTo>
                  <a:cubicBezTo>
                    <a:pt x="1350" y="21388"/>
                    <a:pt x="0" y="19270"/>
                    <a:pt x="0" y="17153"/>
                  </a:cubicBezTo>
                  <a:cubicBezTo>
                    <a:pt x="0" y="4447"/>
                    <a:pt x="0" y="4447"/>
                    <a:pt x="0" y="4447"/>
                  </a:cubicBezTo>
                  <a:cubicBezTo>
                    <a:pt x="0" y="1906"/>
                    <a:pt x="1350" y="212"/>
                    <a:pt x="3375" y="212"/>
                  </a:cubicBezTo>
                  <a:cubicBezTo>
                    <a:pt x="13500" y="212"/>
                    <a:pt x="13500" y="212"/>
                    <a:pt x="13500" y="212"/>
                  </a:cubicBezTo>
                  <a:cubicBezTo>
                    <a:pt x="13838" y="212"/>
                    <a:pt x="14512" y="212"/>
                    <a:pt x="14850" y="212"/>
                  </a:cubicBezTo>
                  <a:cubicBezTo>
                    <a:pt x="14850" y="635"/>
                    <a:pt x="14850" y="635"/>
                    <a:pt x="15187" y="635"/>
                  </a:cubicBezTo>
                  <a:cubicBezTo>
                    <a:pt x="15187" y="1059"/>
                    <a:pt x="15187" y="1059"/>
                    <a:pt x="14850" y="1059"/>
                  </a:cubicBezTo>
                  <a:cubicBezTo>
                    <a:pt x="14512" y="1906"/>
                    <a:pt x="14512" y="1906"/>
                    <a:pt x="14512" y="1906"/>
                  </a:cubicBezTo>
                  <a:cubicBezTo>
                    <a:pt x="14175" y="1906"/>
                    <a:pt x="14175" y="1906"/>
                    <a:pt x="13838" y="1906"/>
                  </a:cubicBezTo>
                  <a:cubicBezTo>
                    <a:pt x="13838" y="1906"/>
                    <a:pt x="13500" y="1906"/>
                    <a:pt x="13500" y="1906"/>
                  </a:cubicBezTo>
                  <a:cubicBezTo>
                    <a:pt x="3375" y="1906"/>
                    <a:pt x="3375" y="1906"/>
                    <a:pt x="3375" y="1906"/>
                  </a:cubicBezTo>
                  <a:cubicBezTo>
                    <a:pt x="2363" y="1906"/>
                    <a:pt x="1350" y="3176"/>
                    <a:pt x="1350" y="4447"/>
                  </a:cubicBezTo>
                  <a:cubicBezTo>
                    <a:pt x="1350" y="17153"/>
                    <a:pt x="1350" y="17153"/>
                    <a:pt x="1350" y="17153"/>
                  </a:cubicBezTo>
                  <a:cubicBezTo>
                    <a:pt x="1350" y="18423"/>
                    <a:pt x="2363" y="19270"/>
                    <a:pt x="3375" y="19270"/>
                  </a:cubicBezTo>
                  <a:cubicBezTo>
                    <a:pt x="13500" y="19270"/>
                    <a:pt x="13500" y="19270"/>
                    <a:pt x="13500" y="19270"/>
                  </a:cubicBezTo>
                  <a:cubicBezTo>
                    <a:pt x="14512" y="19270"/>
                    <a:pt x="15187" y="18423"/>
                    <a:pt x="15187" y="17153"/>
                  </a:cubicBezTo>
                  <a:cubicBezTo>
                    <a:pt x="15187" y="15035"/>
                    <a:pt x="15187" y="15035"/>
                    <a:pt x="15187" y="15035"/>
                  </a:cubicBezTo>
                  <a:cubicBezTo>
                    <a:pt x="15187" y="15035"/>
                    <a:pt x="15525" y="14612"/>
                    <a:pt x="15525" y="14612"/>
                  </a:cubicBezTo>
                  <a:cubicBezTo>
                    <a:pt x="16200" y="13764"/>
                    <a:pt x="16200" y="13764"/>
                    <a:pt x="16200" y="13764"/>
                  </a:cubicBezTo>
                  <a:cubicBezTo>
                    <a:pt x="16200" y="13764"/>
                    <a:pt x="16538" y="13764"/>
                    <a:pt x="16538" y="13764"/>
                  </a:cubicBezTo>
                  <a:cubicBezTo>
                    <a:pt x="16875" y="13764"/>
                    <a:pt x="16875" y="13764"/>
                    <a:pt x="16875" y="14188"/>
                  </a:cubicBezTo>
                  <a:lnTo>
                    <a:pt x="16875" y="17153"/>
                  </a:lnTo>
                  <a:close/>
                  <a:moveTo>
                    <a:pt x="19238" y="7412"/>
                  </a:moveTo>
                  <a:cubicBezTo>
                    <a:pt x="11137" y="17576"/>
                    <a:pt x="11137" y="17576"/>
                    <a:pt x="11137" y="17576"/>
                  </a:cubicBezTo>
                  <a:cubicBezTo>
                    <a:pt x="7763" y="17576"/>
                    <a:pt x="7763" y="17576"/>
                    <a:pt x="7763" y="17576"/>
                  </a:cubicBezTo>
                  <a:cubicBezTo>
                    <a:pt x="7763" y="12917"/>
                    <a:pt x="7763" y="12917"/>
                    <a:pt x="7763" y="12917"/>
                  </a:cubicBezTo>
                  <a:cubicBezTo>
                    <a:pt x="15863" y="2753"/>
                    <a:pt x="15863" y="2753"/>
                    <a:pt x="15863" y="2753"/>
                  </a:cubicBezTo>
                  <a:lnTo>
                    <a:pt x="19238" y="7412"/>
                  </a:lnTo>
                  <a:close/>
                  <a:moveTo>
                    <a:pt x="12150" y="14188"/>
                  </a:moveTo>
                  <a:cubicBezTo>
                    <a:pt x="10125" y="12070"/>
                    <a:pt x="10125" y="12070"/>
                    <a:pt x="10125" y="12070"/>
                  </a:cubicBezTo>
                  <a:cubicBezTo>
                    <a:pt x="8775" y="13764"/>
                    <a:pt x="8775" y="13764"/>
                    <a:pt x="8775" y="13764"/>
                  </a:cubicBezTo>
                  <a:cubicBezTo>
                    <a:pt x="8775" y="14612"/>
                    <a:pt x="8775" y="14612"/>
                    <a:pt x="8775" y="14612"/>
                  </a:cubicBezTo>
                  <a:cubicBezTo>
                    <a:pt x="9788" y="14612"/>
                    <a:pt x="9788" y="14612"/>
                    <a:pt x="9788" y="14612"/>
                  </a:cubicBezTo>
                  <a:cubicBezTo>
                    <a:pt x="9788" y="15882"/>
                    <a:pt x="9788" y="15882"/>
                    <a:pt x="9788" y="15882"/>
                  </a:cubicBezTo>
                  <a:cubicBezTo>
                    <a:pt x="10462" y="15882"/>
                    <a:pt x="10462" y="15882"/>
                    <a:pt x="10462" y="15882"/>
                  </a:cubicBezTo>
                  <a:lnTo>
                    <a:pt x="12150" y="14188"/>
                  </a:lnTo>
                  <a:close/>
                  <a:moveTo>
                    <a:pt x="15525" y="5294"/>
                  </a:moveTo>
                  <a:cubicBezTo>
                    <a:pt x="11475" y="10376"/>
                    <a:pt x="11475" y="10376"/>
                    <a:pt x="11475" y="10376"/>
                  </a:cubicBezTo>
                  <a:cubicBezTo>
                    <a:pt x="11137" y="10376"/>
                    <a:pt x="11137" y="10800"/>
                    <a:pt x="11137" y="10800"/>
                  </a:cubicBezTo>
                  <a:cubicBezTo>
                    <a:pt x="11475" y="11223"/>
                    <a:pt x="11475" y="11223"/>
                    <a:pt x="11812" y="10800"/>
                  </a:cubicBezTo>
                  <a:cubicBezTo>
                    <a:pt x="15863" y="5717"/>
                    <a:pt x="15863" y="5717"/>
                    <a:pt x="15863" y="5717"/>
                  </a:cubicBezTo>
                  <a:cubicBezTo>
                    <a:pt x="15863" y="5294"/>
                    <a:pt x="15863" y="5294"/>
                    <a:pt x="15863" y="5294"/>
                  </a:cubicBezTo>
                  <a:cubicBezTo>
                    <a:pt x="15863" y="4870"/>
                    <a:pt x="15525" y="4870"/>
                    <a:pt x="15525" y="5294"/>
                  </a:cubicBezTo>
                  <a:close/>
                  <a:moveTo>
                    <a:pt x="19912" y="6141"/>
                  </a:moveTo>
                  <a:cubicBezTo>
                    <a:pt x="16538" y="1906"/>
                    <a:pt x="16538" y="1906"/>
                    <a:pt x="16538" y="1906"/>
                  </a:cubicBezTo>
                  <a:cubicBezTo>
                    <a:pt x="17550" y="635"/>
                    <a:pt x="17550" y="635"/>
                    <a:pt x="17550" y="635"/>
                  </a:cubicBezTo>
                  <a:cubicBezTo>
                    <a:pt x="17887" y="-212"/>
                    <a:pt x="18900" y="-212"/>
                    <a:pt x="19238" y="635"/>
                  </a:cubicBezTo>
                  <a:cubicBezTo>
                    <a:pt x="20925" y="2753"/>
                    <a:pt x="20925" y="2753"/>
                    <a:pt x="20925" y="2753"/>
                  </a:cubicBezTo>
                  <a:cubicBezTo>
                    <a:pt x="21600" y="3600"/>
                    <a:pt x="21600" y="4447"/>
                    <a:pt x="20925" y="4870"/>
                  </a:cubicBezTo>
                  <a:lnTo>
                    <a:pt x="19912" y="6141"/>
                  </a:lnTo>
                  <a:close/>
                </a:path>
              </a:pathLst>
            </a:custGeom>
            <a:solidFill>
              <a:srgbClr val="53585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 panose="020B0604020202090204"/>
                <a:buNone/>
              </a:pPr>
              <a:endParaRPr sz="15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483" name="Google Shape;483;p16"/>
          <p:cNvGrpSpPr/>
          <p:nvPr/>
        </p:nvGrpSpPr>
        <p:grpSpPr>
          <a:xfrm>
            <a:off x="3427732" y="4575483"/>
            <a:ext cx="512764" cy="195263"/>
            <a:chOff x="1059814" y="4754505"/>
            <a:chExt cx="513103" cy="195263"/>
          </a:xfrm>
        </p:grpSpPr>
        <p:sp>
          <p:nvSpPr>
            <p:cNvPr id="484" name="Google Shape;484;p16"/>
            <p:cNvSpPr txBox="1"/>
            <p:nvPr/>
          </p:nvSpPr>
          <p:spPr>
            <a:xfrm>
              <a:off x="1392917" y="4775143"/>
              <a:ext cx="180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Roboto" panose="02000000000000000000"/>
                <a:buNone/>
              </a:pPr>
              <a:r>
                <a:rPr lang="en-GB" sz="1200" b="0" i="0" u="none" strike="noStrike" cap="none">
                  <a:solidFill>
                    <a:srgbClr val="000000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X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pic>
          <p:nvPicPr>
            <p:cNvPr id="485" name="Google Shape;485;p16"/>
            <p:cNvPicPr preferRelativeResize="0"/>
            <p:nvPr/>
          </p:nvPicPr>
          <p:blipFill rotWithShape="1">
            <a:blip r:embed="rId9"/>
            <a:srcRect/>
            <a:stretch>
              <a:fillRect/>
            </a:stretch>
          </p:blipFill>
          <p:spPr>
            <a:xfrm>
              <a:off x="1059814" y="4754505"/>
              <a:ext cx="262385" cy="1952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6" name="Google Shape;486;p16"/>
          <p:cNvSpPr txBox="1"/>
          <p:nvPr/>
        </p:nvSpPr>
        <p:spPr>
          <a:xfrm>
            <a:off x="2573974" y="3477852"/>
            <a:ext cx="4865688" cy="23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050"/>
              <a:buFont typeface="Arial" panose="020B0604020202090204"/>
              <a:buNone/>
            </a:pPr>
            <a:r>
              <a:rPr lang="en-GB" sz="1050" b="1" i="0" u="none" strike="noStrike" cap="none">
                <a:solidFill>
                  <a:srgbClr val="3A383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Lenovo Share of Voice – Breakdown by Channel</a:t>
            </a:r>
            <a:endParaRPr sz="1050" b="1" i="0" u="none" strike="noStrike" cap="none">
              <a:solidFill>
                <a:srgbClr val="3A383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487" name="Google Shape;487;p16"/>
          <p:cNvGrpSpPr/>
          <p:nvPr/>
        </p:nvGrpSpPr>
        <p:grpSpPr>
          <a:xfrm>
            <a:off x="5503863" y="4726930"/>
            <a:ext cx="1012825" cy="179388"/>
            <a:chOff x="2729664" y="4760018"/>
            <a:chExt cx="1011595" cy="179388"/>
          </a:xfrm>
        </p:grpSpPr>
        <p:sp>
          <p:nvSpPr>
            <p:cNvPr id="488" name="Google Shape;488;p16"/>
            <p:cNvSpPr txBox="1"/>
            <p:nvPr/>
          </p:nvSpPr>
          <p:spPr>
            <a:xfrm>
              <a:off x="3023421" y="4772718"/>
              <a:ext cx="7178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Roboto" panose="02000000000000000000"/>
                <a:buNone/>
              </a:pPr>
              <a:r>
                <a:rPr lang="en-GB" sz="1200" b="0" i="0" u="none" strike="noStrike" cap="none">
                  <a:solidFill>
                    <a:srgbClr val="000000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Instagram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2729664" y="4760018"/>
              <a:ext cx="183323" cy="179388"/>
            </a:xfrm>
            <a:custGeom>
              <a:avLst/>
              <a:gdLst/>
              <a:ahLst/>
              <a:cxnLst/>
              <a:rect l="l" t="t" r="r" b="b"/>
              <a:pathLst>
                <a:path w="426" h="435" extrusionOk="0">
                  <a:moveTo>
                    <a:pt x="345" y="213"/>
                  </a:moveTo>
                  <a:lnTo>
                    <a:pt x="345" y="213"/>
                  </a:lnTo>
                  <a:cubicBezTo>
                    <a:pt x="345" y="284"/>
                    <a:pt x="284" y="346"/>
                    <a:pt x="213" y="346"/>
                  </a:cubicBezTo>
                  <a:cubicBezTo>
                    <a:pt x="142" y="346"/>
                    <a:pt x="79" y="284"/>
                    <a:pt x="79" y="213"/>
                  </a:cubicBezTo>
                  <a:cubicBezTo>
                    <a:pt x="79" y="203"/>
                    <a:pt x="88" y="203"/>
                    <a:pt x="88" y="195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0" y="363"/>
                    <a:pt x="0" y="363"/>
                    <a:pt x="0" y="363"/>
                  </a:cubicBezTo>
                  <a:cubicBezTo>
                    <a:pt x="0" y="399"/>
                    <a:pt x="26" y="434"/>
                    <a:pt x="62" y="434"/>
                  </a:cubicBezTo>
                  <a:cubicBezTo>
                    <a:pt x="363" y="434"/>
                    <a:pt x="363" y="434"/>
                    <a:pt x="363" y="434"/>
                  </a:cubicBezTo>
                  <a:cubicBezTo>
                    <a:pt x="398" y="434"/>
                    <a:pt x="425" y="399"/>
                    <a:pt x="425" y="363"/>
                  </a:cubicBezTo>
                  <a:cubicBezTo>
                    <a:pt x="425" y="195"/>
                    <a:pt x="425" y="195"/>
                    <a:pt x="425" y="195"/>
                  </a:cubicBezTo>
                  <a:cubicBezTo>
                    <a:pt x="337" y="195"/>
                    <a:pt x="337" y="195"/>
                    <a:pt x="337" y="195"/>
                  </a:cubicBezTo>
                  <a:cubicBezTo>
                    <a:pt x="337" y="203"/>
                    <a:pt x="345" y="203"/>
                    <a:pt x="345" y="213"/>
                  </a:cubicBezTo>
                  <a:close/>
                  <a:moveTo>
                    <a:pt x="363" y="0"/>
                  </a:moveTo>
                  <a:lnTo>
                    <a:pt x="363" y="0"/>
                  </a:lnTo>
                  <a:cubicBezTo>
                    <a:pt x="62" y="0"/>
                    <a:pt x="62" y="0"/>
                    <a:pt x="62" y="0"/>
                  </a:cubicBezTo>
                  <a:cubicBezTo>
                    <a:pt x="26" y="0"/>
                    <a:pt x="0" y="36"/>
                    <a:pt x="0" y="71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06" y="142"/>
                    <a:pt x="106" y="142"/>
                    <a:pt x="106" y="142"/>
                  </a:cubicBezTo>
                  <a:cubicBezTo>
                    <a:pt x="132" y="106"/>
                    <a:pt x="168" y="89"/>
                    <a:pt x="213" y="89"/>
                  </a:cubicBezTo>
                  <a:cubicBezTo>
                    <a:pt x="257" y="89"/>
                    <a:pt x="292" y="106"/>
                    <a:pt x="319" y="142"/>
                  </a:cubicBezTo>
                  <a:cubicBezTo>
                    <a:pt x="425" y="142"/>
                    <a:pt x="425" y="142"/>
                    <a:pt x="425" y="142"/>
                  </a:cubicBezTo>
                  <a:cubicBezTo>
                    <a:pt x="425" y="71"/>
                    <a:pt x="425" y="71"/>
                    <a:pt x="425" y="71"/>
                  </a:cubicBezTo>
                  <a:cubicBezTo>
                    <a:pt x="425" y="36"/>
                    <a:pt x="398" y="0"/>
                    <a:pt x="363" y="0"/>
                  </a:cubicBezTo>
                  <a:close/>
                  <a:moveTo>
                    <a:pt x="390" y="89"/>
                  </a:moveTo>
                  <a:lnTo>
                    <a:pt x="390" y="89"/>
                  </a:lnTo>
                  <a:cubicBezTo>
                    <a:pt x="390" y="89"/>
                    <a:pt x="390" y="97"/>
                    <a:pt x="381" y="97"/>
                  </a:cubicBezTo>
                  <a:cubicBezTo>
                    <a:pt x="345" y="97"/>
                    <a:pt x="345" y="97"/>
                    <a:pt x="345" y="97"/>
                  </a:cubicBezTo>
                  <a:cubicBezTo>
                    <a:pt x="337" y="97"/>
                    <a:pt x="328" y="89"/>
                    <a:pt x="328" y="89"/>
                  </a:cubicBezTo>
                  <a:cubicBezTo>
                    <a:pt x="328" y="53"/>
                    <a:pt x="328" y="53"/>
                    <a:pt x="328" y="53"/>
                  </a:cubicBezTo>
                  <a:cubicBezTo>
                    <a:pt x="328" y="44"/>
                    <a:pt x="337" y="36"/>
                    <a:pt x="345" y="36"/>
                  </a:cubicBezTo>
                  <a:cubicBezTo>
                    <a:pt x="381" y="36"/>
                    <a:pt x="381" y="36"/>
                    <a:pt x="381" y="36"/>
                  </a:cubicBezTo>
                  <a:cubicBezTo>
                    <a:pt x="390" y="36"/>
                    <a:pt x="390" y="44"/>
                    <a:pt x="390" y="53"/>
                  </a:cubicBezTo>
                  <a:lnTo>
                    <a:pt x="390" y="89"/>
                  </a:lnTo>
                  <a:close/>
                  <a:moveTo>
                    <a:pt x="292" y="213"/>
                  </a:moveTo>
                  <a:lnTo>
                    <a:pt x="292" y="213"/>
                  </a:lnTo>
                  <a:cubicBezTo>
                    <a:pt x="292" y="168"/>
                    <a:pt x="257" y="133"/>
                    <a:pt x="213" y="133"/>
                  </a:cubicBezTo>
                  <a:cubicBezTo>
                    <a:pt x="168" y="133"/>
                    <a:pt x="132" y="168"/>
                    <a:pt x="132" y="213"/>
                  </a:cubicBezTo>
                  <a:cubicBezTo>
                    <a:pt x="132" y="257"/>
                    <a:pt x="168" y="293"/>
                    <a:pt x="213" y="293"/>
                  </a:cubicBezTo>
                  <a:cubicBezTo>
                    <a:pt x="257" y="293"/>
                    <a:pt x="292" y="257"/>
                    <a:pt x="292" y="213"/>
                  </a:cubicBezTo>
                  <a:close/>
                </a:path>
              </a:pathLst>
            </a:custGeom>
            <a:solidFill>
              <a:srgbClr val="53585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 panose="020B0604020202090204"/>
                <a:buNone/>
              </a:pPr>
              <a:endParaRPr sz="15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490" name="Google Shape;490;p16"/>
          <p:cNvGrpSpPr/>
          <p:nvPr/>
        </p:nvGrpSpPr>
        <p:grpSpPr>
          <a:xfrm>
            <a:off x="7954963" y="4704705"/>
            <a:ext cx="906463" cy="223838"/>
            <a:chOff x="4710682" y="4702000"/>
            <a:chExt cx="905757" cy="223838"/>
          </a:xfrm>
        </p:grpSpPr>
        <p:sp>
          <p:nvSpPr>
            <p:cNvPr id="491" name="Google Shape;491;p16"/>
            <p:cNvSpPr txBox="1"/>
            <p:nvPr/>
          </p:nvSpPr>
          <p:spPr>
            <a:xfrm>
              <a:off x="5004439" y="4738512"/>
              <a:ext cx="612000" cy="1508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Roboto" panose="02000000000000000000"/>
                <a:buNone/>
              </a:pPr>
              <a:r>
                <a:rPr lang="en-GB" sz="1200" b="0" i="0" u="none" strike="noStrike" cap="none">
                  <a:solidFill>
                    <a:srgbClr val="000000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YouTube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4710682" y="4702000"/>
              <a:ext cx="184460" cy="22383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234" y="19800"/>
                  </a:moveTo>
                  <a:cubicBezTo>
                    <a:pt x="21234" y="20700"/>
                    <a:pt x="20136" y="21300"/>
                    <a:pt x="19037" y="21300"/>
                  </a:cubicBezTo>
                  <a:cubicBezTo>
                    <a:pt x="16475" y="21600"/>
                    <a:pt x="13546" y="21600"/>
                    <a:pt x="10983" y="21600"/>
                  </a:cubicBezTo>
                  <a:cubicBezTo>
                    <a:pt x="8054" y="21600"/>
                    <a:pt x="5492" y="21600"/>
                    <a:pt x="2563" y="21300"/>
                  </a:cubicBezTo>
                  <a:cubicBezTo>
                    <a:pt x="1464" y="21300"/>
                    <a:pt x="732" y="20700"/>
                    <a:pt x="366" y="19800"/>
                  </a:cubicBezTo>
                  <a:cubicBezTo>
                    <a:pt x="0" y="18300"/>
                    <a:pt x="0" y="16800"/>
                    <a:pt x="0" y="15600"/>
                  </a:cubicBezTo>
                  <a:cubicBezTo>
                    <a:pt x="0" y="14100"/>
                    <a:pt x="0" y="12600"/>
                    <a:pt x="366" y="11400"/>
                  </a:cubicBezTo>
                  <a:cubicBezTo>
                    <a:pt x="732" y="10200"/>
                    <a:pt x="1464" y="9600"/>
                    <a:pt x="2563" y="9600"/>
                  </a:cubicBezTo>
                  <a:cubicBezTo>
                    <a:pt x="5492" y="9300"/>
                    <a:pt x="8054" y="9300"/>
                    <a:pt x="10983" y="9300"/>
                  </a:cubicBezTo>
                  <a:cubicBezTo>
                    <a:pt x="13546" y="9300"/>
                    <a:pt x="16475" y="9300"/>
                    <a:pt x="19037" y="9600"/>
                  </a:cubicBezTo>
                  <a:cubicBezTo>
                    <a:pt x="20136" y="9600"/>
                    <a:pt x="21234" y="10200"/>
                    <a:pt x="21234" y="11400"/>
                  </a:cubicBezTo>
                  <a:cubicBezTo>
                    <a:pt x="21600" y="12600"/>
                    <a:pt x="21600" y="14100"/>
                    <a:pt x="21600" y="15600"/>
                  </a:cubicBezTo>
                  <a:cubicBezTo>
                    <a:pt x="21600" y="16800"/>
                    <a:pt x="21600" y="18300"/>
                    <a:pt x="21234" y="19800"/>
                  </a:cubicBezTo>
                  <a:close/>
                  <a:moveTo>
                    <a:pt x="6224" y="12600"/>
                  </a:moveTo>
                  <a:cubicBezTo>
                    <a:pt x="6224" y="11400"/>
                    <a:pt x="6224" y="11400"/>
                    <a:pt x="6224" y="11400"/>
                  </a:cubicBezTo>
                  <a:cubicBezTo>
                    <a:pt x="1464" y="11400"/>
                    <a:pt x="1464" y="11400"/>
                    <a:pt x="1464" y="11400"/>
                  </a:cubicBezTo>
                  <a:cubicBezTo>
                    <a:pt x="1464" y="12600"/>
                    <a:pt x="1464" y="12600"/>
                    <a:pt x="1464" y="12600"/>
                  </a:cubicBezTo>
                  <a:cubicBezTo>
                    <a:pt x="3295" y="12600"/>
                    <a:pt x="3295" y="12600"/>
                    <a:pt x="3295" y="12600"/>
                  </a:cubicBezTo>
                  <a:cubicBezTo>
                    <a:pt x="3295" y="19200"/>
                    <a:pt x="3295" y="19200"/>
                    <a:pt x="3295" y="19200"/>
                  </a:cubicBezTo>
                  <a:cubicBezTo>
                    <a:pt x="4759" y="19200"/>
                    <a:pt x="4759" y="19200"/>
                    <a:pt x="4759" y="19200"/>
                  </a:cubicBezTo>
                  <a:cubicBezTo>
                    <a:pt x="4759" y="12600"/>
                    <a:pt x="4759" y="12600"/>
                    <a:pt x="4759" y="12600"/>
                  </a:cubicBezTo>
                  <a:lnTo>
                    <a:pt x="6224" y="12600"/>
                  </a:lnTo>
                  <a:close/>
                  <a:moveTo>
                    <a:pt x="8420" y="0"/>
                  </a:moveTo>
                  <a:cubicBezTo>
                    <a:pt x="6956" y="4800"/>
                    <a:pt x="6956" y="4800"/>
                    <a:pt x="6956" y="4800"/>
                  </a:cubicBezTo>
                  <a:cubicBezTo>
                    <a:pt x="6956" y="8100"/>
                    <a:pt x="6956" y="8100"/>
                    <a:pt x="6956" y="8100"/>
                  </a:cubicBezTo>
                  <a:cubicBezTo>
                    <a:pt x="5492" y="8100"/>
                    <a:pt x="5492" y="8100"/>
                    <a:pt x="5492" y="8100"/>
                  </a:cubicBezTo>
                  <a:cubicBezTo>
                    <a:pt x="5492" y="4800"/>
                    <a:pt x="5492" y="4800"/>
                    <a:pt x="5492" y="4800"/>
                  </a:cubicBezTo>
                  <a:cubicBezTo>
                    <a:pt x="5125" y="4200"/>
                    <a:pt x="4759" y="3600"/>
                    <a:pt x="4393" y="2400"/>
                  </a:cubicBezTo>
                  <a:cubicBezTo>
                    <a:pt x="4027" y="1500"/>
                    <a:pt x="3661" y="900"/>
                    <a:pt x="3295" y="0"/>
                  </a:cubicBezTo>
                  <a:cubicBezTo>
                    <a:pt x="5125" y="0"/>
                    <a:pt x="5125" y="0"/>
                    <a:pt x="5125" y="0"/>
                  </a:cubicBezTo>
                  <a:cubicBezTo>
                    <a:pt x="6224" y="3300"/>
                    <a:pt x="6224" y="3300"/>
                    <a:pt x="6224" y="3300"/>
                  </a:cubicBezTo>
                  <a:cubicBezTo>
                    <a:pt x="6956" y="0"/>
                    <a:pt x="6956" y="0"/>
                    <a:pt x="6956" y="0"/>
                  </a:cubicBezTo>
                  <a:lnTo>
                    <a:pt x="8420" y="0"/>
                  </a:lnTo>
                  <a:close/>
                  <a:moveTo>
                    <a:pt x="10251" y="19200"/>
                  </a:moveTo>
                  <a:cubicBezTo>
                    <a:pt x="10251" y="13500"/>
                    <a:pt x="10251" y="13500"/>
                    <a:pt x="10251" y="13500"/>
                  </a:cubicBezTo>
                  <a:cubicBezTo>
                    <a:pt x="8786" y="13500"/>
                    <a:pt x="8786" y="13500"/>
                    <a:pt x="8786" y="13500"/>
                  </a:cubicBezTo>
                  <a:cubicBezTo>
                    <a:pt x="8786" y="18000"/>
                    <a:pt x="8786" y="18000"/>
                    <a:pt x="8786" y="18000"/>
                  </a:cubicBezTo>
                  <a:cubicBezTo>
                    <a:pt x="8420" y="18300"/>
                    <a:pt x="8420" y="18300"/>
                    <a:pt x="8054" y="18300"/>
                  </a:cubicBezTo>
                  <a:cubicBezTo>
                    <a:pt x="7688" y="18300"/>
                    <a:pt x="7688" y="18300"/>
                    <a:pt x="7688" y="18300"/>
                  </a:cubicBezTo>
                  <a:cubicBezTo>
                    <a:pt x="7688" y="18000"/>
                    <a:pt x="7688" y="18000"/>
                    <a:pt x="7688" y="17700"/>
                  </a:cubicBezTo>
                  <a:cubicBezTo>
                    <a:pt x="7688" y="13500"/>
                    <a:pt x="7688" y="13500"/>
                    <a:pt x="7688" y="13500"/>
                  </a:cubicBezTo>
                  <a:cubicBezTo>
                    <a:pt x="6224" y="13500"/>
                    <a:pt x="6224" y="13500"/>
                    <a:pt x="6224" y="13500"/>
                  </a:cubicBezTo>
                  <a:cubicBezTo>
                    <a:pt x="6224" y="18000"/>
                    <a:pt x="6224" y="18000"/>
                    <a:pt x="6224" y="18000"/>
                  </a:cubicBezTo>
                  <a:cubicBezTo>
                    <a:pt x="6224" y="18600"/>
                    <a:pt x="6224" y="18900"/>
                    <a:pt x="6590" y="18900"/>
                  </a:cubicBezTo>
                  <a:cubicBezTo>
                    <a:pt x="6590" y="19200"/>
                    <a:pt x="6956" y="19500"/>
                    <a:pt x="7322" y="19500"/>
                  </a:cubicBezTo>
                  <a:cubicBezTo>
                    <a:pt x="7688" y="19500"/>
                    <a:pt x="8420" y="19200"/>
                    <a:pt x="8786" y="18600"/>
                  </a:cubicBezTo>
                  <a:cubicBezTo>
                    <a:pt x="8786" y="19200"/>
                    <a:pt x="8786" y="19200"/>
                    <a:pt x="8786" y="19200"/>
                  </a:cubicBezTo>
                  <a:lnTo>
                    <a:pt x="10251" y="19200"/>
                  </a:lnTo>
                  <a:close/>
                  <a:moveTo>
                    <a:pt x="12447" y="6300"/>
                  </a:moveTo>
                  <a:cubicBezTo>
                    <a:pt x="12447" y="6900"/>
                    <a:pt x="12447" y="7200"/>
                    <a:pt x="12081" y="7500"/>
                  </a:cubicBezTo>
                  <a:cubicBezTo>
                    <a:pt x="11715" y="8100"/>
                    <a:pt x="11349" y="8400"/>
                    <a:pt x="10617" y="8400"/>
                  </a:cubicBezTo>
                  <a:cubicBezTo>
                    <a:pt x="9885" y="8400"/>
                    <a:pt x="9519" y="8100"/>
                    <a:pt x="9153" y="7500"/>
                  </a:cubicBezTo>
                  <a:cubicBezTo>
                    <a:pt x="8786" y="7200"/>
                    <a:pt x="8420" y="6900"/>
                    <a:pt x="8420" y="6300"/>
                  </a:cubicBezTo>
                  <a:cubicBezTo>
                    <a:pt x="8420" y="4200"/>
                    <a:pt x="8420" y="4200"/>
                    <a:pt x="8420" y="4200"/>
                  </a:cubicBezTo>
                  <a:cubicBezTo>
                    <a:pt x="8420" y="3600"/>
                    <a:pt x="8786" y="3000"/>
                    <a:pt x="9153" y="2700"/>
                  </a:cubicBezTo>
                  <a:cubicBezTo>
                    <a:pt x="9519" y="2400"/>
                    <a:pt x="9885" y="2100"/>
                    <a:pt x="10617" y="2100"/>
                  </a:cubicBezTo>
                  <a:cubicBezTo>
                    <a:pt x="11349" y="2100"/>
                    <a:pt x="11715" y="2400"/>
                    <a:pt x="12081" y="2700"/>
                  </a:cubicBezTo>
                  <a:cubicBezTo>
                    <a:pt x="12447" y="3000"/>
                    <a:pt x="12447" y="3600"/>
                    <a:pt x="12447" y="4200"/>
                  </a:cubicBezTo>
                  <a:lnTo>
                    <a:pt x="12447" y="6300"/>
                  </a:lnTo>
                  <a:close/>
                  <a:moveTo>
                    <a:pt x="10983" y="3900"/>
                  </a:moveTo>
                  <a:cubicBezTo>
                    <a:pt x="10983" y="3300"/>
                    <a:pt x="10983" y="3000"/>
                    <a:pt x="10617" y="3000"/>
                  </a:cubicBezTo>
                  <a:cubicBezTo>
                    <a:pt x="10251" y="3000"/>
                    <a:pt x="9885" y="3300"/>
                    <a:pt x="9885" y="3900"/>
                  </a:cubicBezTo>
                  <a:cubicBezTo>
                    <a:pt x="9885" y="6300"/>
                    <a:pt x="9885" y="6300"/>
                    <a:pt x="9885" y="6300"/>
                  </a:cubicBezTo>
                  <a:cubicBezTo>
                    <a:pt x="9885" y="6900"/>
                    <a:pt x="10251" y="7200"/>
                    <a:pt x="10617" y="7200"/>
                  </a:cubicBezTo>
                  <a:cubicBezTo>
                    <a:pt x="10983" y="7200"/>
                    <a:pt x="10983" y="6900"/>
                    <a:pt x="10983" y="6300"/>
                  </a:cubicBezTo>
                  <a:lnTo>
                    <a:pt x="10983" y="3900"/>
                  </a:lnTo>
                  <a:close/>
                  <a:moveTo>
                    <a:pt x="15010" y="15300"/>
                  </a:moveTo>
                  <a:cubicBezTo>
                    <a:pt x="15010" y="14700"/>
                    <a:pt x="15010" y="14100"/>
                    <a:pt x="15010" y="14100"/>
                  </a:cubicBezTo>
                  <a:cubicBezTo>
                    <a:pt x="15010" y="13500"/>
                    <a:pt x="14644" y="13200"/>
                    <a:pt x="13912" y="13200"/>
                  </a:cubicBezTo>
                  <a:cubicBezTo>
                    <a:pt x="13546" y="13200"/>
                    <a:pt x="13180" y="13500"/>
                    <a:pt x="12447" y="13800"/>
                  </a:cubicBezTo>
                  <a:cubicBezTo>
                    <a:pt x="12447" y="11400"/>
                    <a:pt x="12447" y="11400"/>
                    <a:pt x="12447" y="11400"/>
                  </a:cubicBezTo>
                  <a:cubicBezTo>
                    <a:pt x="11349" y="11400"/>
                    <a:pt x="11349" y="11400"/>
                    <a:pt x="11349" y="11400"/>
                  </a:cubicBezTo>
                  <a:cubicBezTo>
                    <a:pt x="11349" y="19200"/>
                    <a:pt x="11349" y="19200"/>
                    <a:pt x="11349" y="19200"/>
                  </a:cubicBezTo>
                  <a:cubicBezTo>
                    <a:pt x="12447" y="19200"/>
                    <a:pt x="12447" y="19200"/>
                    <a:pt x="12447" y="19200"/>
                  </a:cubicBezTo>
                  <a:cubicBezTo>
                    <a:pt x="12447" y="18600"/>
                    <a:pt x="12447" y="18600"/>
                    <a:pt x="12447" y="18600"/>
                  </a:cubicBezTo>
                  <a:cubicBezTo>
                    <a:pt x="13180" y="19200"/>
                    <a:pt x="13546" y="19500"/>
                    <a:pt x="13912" y="19500"/>
                  </a:cubicBezTo>
                  <a:cubicBezTo>
                    <a:pt x="14644" y="19500"/>
                    <a:pt x="15010" y="19200"/>
                    <a:pt x="15010" y="18600"/>
                  </a:cubicBezTo>
                  <a:cubicBezTo>
                    <a:pt x="15010" y="18600"/>
                    <a:pt x="15010" y="18000"/>
                    <a:pt x="15010" y="17400"/>
                  </a:cubicBezTo>
                  <a:lnTo>
                    <a:pt x="15010" y="15300"/>
                  </a:lnTo>
                  <a:close/>
                  <a:moveTo>
                    <a:pt x="13912" y="17700"/>
                  </a:moveTo>
                  <a:cubicBezTo>
                    <a:pt x="13912" y="18300"/>
                    <a:pt x="13546" y="18300"/>
                    <a:pt x="13180" y="18300"/>
                  </a:cubicBezTo>
                  <a:cubicBezTo>
                    <a:pt x="13180" y="18300"/>
                    <a:pt x="12814" y="18300"/>
                    <a:pt x="12447" y="18300"/>
                  </a:cubicBezTo>
                  <a:cubicBezTo>
                    <a:pt x="12447" y="14400"/>
                    <a:pt x="12447" y="14400"/>
                    <a:pt x="12447" y="14400"/>
                  </a:cubicBezTo>
                  <a:cubicBezTo>
                    <a:pt x="12814" y="14400"/>
                    <a:pt x="13180" y="14400"/>
                    <a:pt x="13180" y="14400"/>
                  </a:cubicBezTo>
                  <a:cubicBezTo>
                    <a:pt x="13546" y="14400"/>
                    <a:pt x="13912" y="14700"/>
                    <a:pt x="13912" y="15000"/>
                  </a:cubicBezTo>
                  <a:lnTo>
                    <a:pt x="13912" y="17700"/>
                  </a:lnTo>
                  <a:close/>
                  <a:moveTo>
                    <a:pt x="17573" y="8100"/>
                  </a:moveTo>
                  <a:cubicBezTo>
                    <a:pt x="16108" y="8100"/>
                    <a:pt x="16108" y="8100"/>
                    <a:pt x="16108" y="8100"/>
                  </a:cubicBezTo>
                  <a:cubicBezTo>
                    <a:pt x="16108" y="7500"/>
                    <a:pt x="16108" y="7500"/>
                    <a:pt x="16108" y="7500"/>
                  </a:cubicBezTo>
                  <a:cubicBezTo>
                    <a:pt x="15376" y="8100"/>
                    <a:pt x="15010" y="8400"/>
                    <a:pt x="14644" y="8400"/>
                  </a:cubicBezTo>
                  <a:cubicBezTo>
                    <a:pt x="14278" y="8400"/>
                    <a:pt x="13912" y="8100"/>
                    <a:pt x="13546" y="7800"/>
                  </a:cubicBezTo>
                  <a:cubicBezTo>
                    <a:pt x="13546" y="7500"/>
                    <a:pt x="13546" y="7200"/>
                    <a:pt x="13546" y="6900"/>
                  </a:cubicBezTo>
                  <a:cubicBezTo>
                    <a:pt x="13546" y="2100"/>
                    <a:pt x="13546" y="2100"/>
                    <a:pt x="13546" y="2100"/>
                  </a:cubicBezTo>
                  <a:cubicBezTo>
                    <a:pt x="15010" y="2100"/>
                    <a:pt x="15010" y="2100"/>
                    <a:pt x="15010" y="2100"/>
                  </a:cubicBezTo>
                  <a:cubicBezTo>
                    <a:pt x="15010" y="6600"/>
                    <a:pt x="15010" y="6600"/>
                    <a:pt x="15010" y="6600"/>
                  </a:cubicBezTo>
                  <a:cubicBezTo>
                    <a:pt x="15010" y="6900"/>
                    <a:pt x="15010" y="6900"/>
                    <a:pt x="15010" y="6900"/>
                  </a:cubicBezTo>
                  <a:cubicBezTo>
                    <a:pt x="15010" y="7200"/>
                    <a:pt x="15010" y="7200"/>
                    <a:pt x="15376" y="7200"/>
                  </a:cubicBezTo>
                  <a:cubicBezTo>
                    <a:pt x="15376" y="7200"/>
                    <a:pt x="15742" y="7200"/>
                    <a:pt x="16108" y="6600"/>
                  </a:cubicBezTo>
                  <a:cubicBezTo>
                    <a:pt x="16108" y="2100"/>
                    <a:pt x="16108" y="2100"/>
                    <a:pt x="16108" y="2100"/>
                  </a:cubicBezTo>
                  <a:cubicBezTo>
                    <a:pt x="17573" y="2100"/>
                    <a:pt x="17573" y="2100"/>
                    <a:pt x="17573" y="2100"/>
                  </a:cubicBezTo>
                  <a:lnTo>
                    <a:pt x="17573" y="8100"/>
                  </a:lnTo>
                  <a:close/>
                  <a:moveTo>
                    <a:pt x="20136" y="17400"/>
                  </a:moveTo>
                  <a:cubicBezTo>
                    <a:pt x="18671" y="17400"/>
                    <a:pt x="18671" y="17400"/>
                    <a:pt x="18671" y="17400"/>
                  </a:cubicBezTo>
                  <a:cubicBezTo>
                    <a:pt x="18671" y="17700"/>
                    <a:pt x="18671" y="18000"/>
                    <a:pt x="18671" y="18000"/>
                  </a:cubicBezTo>
                  <a:cubicBezTo>
                    <a:pt x="18671" y="18300"/>
                    <a:pt x="18305" y="18300"/>
                    <a:pt x="18305" y="18300"/>
                  </a:cubicBezTo>
                  <a:cubicBezTo>
                    <a:pt x="17573" y="18300"/>
                    <a:pt x="17573" y="18300"/>
                    <a:pt x="17573" y="17700"/>
                  </a:cubicBezTo>
                  <a:cubicBezTo>
                    <a:pt x="17573" y="16500"/>
                    <a:pt x="17573" y="16500"/>
                    <a:pt x="17573" y="16500"/>
                  </a:cubicBezTo>
                  <a:cubicBezTo>
                    <a:pt x="20136" y="16500"/>
                    <a:pt x="20136" y="16500"/>
                    <a:pt x="20136" y="16500"/>
                  </a:cubicBezTo>
                  <a:cubicBezTo>
                    <a:pt x="20136" y="15300"/>
                    <a:pt x="20136" y="15300"/>
                    <a:pt x="20136" y="15300"/>
                  </a:cubicBezTo>
                  <a:cubicBezTo>
                    <a:pt x="20136" y="14700"/>
                    <a:pt x="20136" y="14100"/>
                    <a:pt x="19769" y="13800"/>
                  </a:cubicBezTo>
                  <a:cubicBezTo>
                    <a:pt x="19403" y="13500"/>
                    <a:pt x="18671" y="13200"/>
                    <a:pt x="18305" y="13200"/>
                  </a:cubicBezTo>
                  <a:cubicBezTo>
                    <a:pt x="17573" y="13200"/>
                    <a:pt x="16841" y="13500"/>
                    <a:pt x="16475" y="13800"/>
                  </a:cubicBezTo>
                  <a:cubicBezTo>
                    <a:pt x="16475" y="14100"/>
                    <a:pt x="16108" y="14700"/>
                    <a:pt x="16108" y="15300"/>
                  </a:cubicBezTo>
                  <a:cubicBezTo>
                    <a:pt x="16108" y="17400"/>
                    <a:pt x="16108" y="17400"/>
                    <a:pt x="16108" y="17400"/>
                  </a:cubicBezTo>
                  <a:cubicBezTo>
                    <a:pt x="16108" y="18000"/>
                    <a:pt x="16475" y="18600"/>
                    <a:pt x="16475" y="18900"/>
                  </a:cubicBezTo>
                  <a:cubicBezTo>
                    <a:pt x="16841" y="19200"/>
                    <a:pt x="17573" y="19500"/>
                    <a:pt x="18305" y="19500"/>
                  </a:cubicBezTo>
                  <a:cubicBezTo>
                    <a:pt x="19037" y="19500"/>
                    <a:pt x="19403" y="19200"/>
                    <a:pt x="19769" y="18900"/>
                  </a:cubicBezTo>
                  <a:cubicBezTo>
                    <a:pt x="19769" y="18600"/>
                    <a:pt x="20136" y="18300"/>
                    <a:pt x="20136" y="18000"/>
                  </a:cubicBezTo>
                  <a:cubicBezTo>
                    <a:pt x="20136" y="18000"/>
                    <a:pt x="20136" y="17700"/>
                    <a:pt x="20136" y="17400"/>
                  </a:cubicBezTo>
                  <a:close/>
                  <a:moveTo>
                    <a:pt x="18671" y="15600"/>
                  </a:moveTo>
                  <a:cubicBezTo>
                    <a:pt x="17573" y="15600"/>
                    <a:pt x="17573" y="15600"/>
                    <a:pt x="17573" y="15600"/>
                  </a:cubicBezTo>
                  <a:cubicBezTo>
                    <a:pt x="17573" y="15000"/>
                    <a:pt x="17573" y="15000"/>
                    <a:pt x="17573" y="15000"/>
                  </a:cubicBezTo>
                  <a:cubicBezTo>
                    <a:pt x="17573" y="14700"/>
                    <a:pt x="17573" y="14400"/>
                    <a:pt x="18305" y="14400"/>
                  </a:cubicBezTo>
                  <a:cubicBezTo>
                    <a:pt x="18671" y="14400"/>
                    <a:pt x="18671" y="14700"/>
                    <a:pt x="18671" y="15000"/>
                  </a:cubicBezTo>
                  <a:lnTo>
                    <a:pt x="18671" y="15600"/>
                  </a:lnTo>
                  <a:close/>
                </a:path>
              </a:pathLst>
            </a:custGeom>
            <a:solidFill>
              <a:srgbClr val="53585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 panose="020B0604020202090204"/>
                <a:buNone/>
              </a:pPr>
              <a:endParaRPr sz="15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493" name="Google Shape;493;p16"/>
          <p:cNvGrpSpPr/>
          <p:nvPr/>
        </p:nvGrpSpPr>
        <p:grpSpPr>
          <a:xfrm>
            <a:off x="7651750" y="5589564"/>
            <a:ext cx="1510090" cy="533400"/>
            <a:chOff x="1481159" y="5454979"/>
            <a:chExt cx="1510788" cy="533402"/>
          </a:xfrm>
        </p:grpSpPr>
        <p:sp>
          <p:nvSpPr>
            <p:cNvPr id="494" name="Google Shape;494;p16"/>
            <p:cNvSpPr txBox="1"/>
            <p:nvPr/>
          </p:nvSpPr>
          <p:spPr>
            <a:xfrm rot="5400000">
              <a:off x="1791839" y="5601730"/>
              <a:ext cx="432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Jun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95" name="Google Shape;495;p16"/>
            <p:cNvSpPr txBox="1"/>
            <p:nvPr/>
          </p:nvSpPr>
          <p:spPr>
            <a:xfrm rot="5400000">
              <a:off x="2249268" y="5601729"/>
              <a:ext cx="432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Jul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96" name="Google Shape;496;p16"/>
            <p:cNvSpPr txBox="1"/>
            <p:nvPr/>
          </p:nvSpPr>
          <p:spPr>
            <a:xfrm rot="5400000">
              <a:off x="2706698" y="5601729"/>
              <a:ext cx="432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Aug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97" name="Google Shape;497;p16"/>
            <p:cNvSpPr txBox="1"/>
            <p:nvPr/>
          </p:nvSpPr>
          <p:spPr>
            <a:xfrm rot="5400000">
              <a:off x="1283708" y="5652431"/>
              <a:ext cx="53340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May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498" name="Google Shape;498;p16"/>
          <p:cNvSpPr txBox="1"/>
          <p:nvPr/>
        </p:nvSpPr>
        <p:spPr>
          <a:xfrm>
            <a:off x="306388" y="6325822"/>
            <a:ext cx="3398838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900"/>
              <a:buFont typeface="Arial" panose="020B0604020202090204"/>
              <a:buNone/>
            </a:pPr>
            <a:r>
              <a:rPr lang="en-GB" sz="900" b="0" i="1" u="none" strike="noStrike" cap="none">
                <a:solidFill>
                  <a:srgbClr val="3A383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Lenovo RTBH KPIs are calculated considering the whole market.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499" name="Google Shape;499;p16"/>
          <p:cNvGrpSpPr/>
          <p:nvPr/>
        </p:nvGrpSpPr>
        <p:grpSpPr>
          <a:xfrm>
            <a:off x="5226050" y="5589564"/>
            <a:ext cx="1533933" cy="533400"/>
            <a:chOff x="1481159" y="5454979"/>
            <a:chExt cx="1534652" cy="533402"/>
          </a:xfrm>
        </p:grpSpPr>
        <p:sp>
          <p:nvSpPr>
            <p:cNvPr id="500" name="Google Shape;500;p16"/>
            <p:cNvSpPr txBox="1"/>
            <p:nvPr/>
          </p:nvSpPr>
          <p:spPr>
            <a:xfrm rot="5400000">
              <a:off x="1799793" y="5601730"/>
              <a:ext cx="432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Jun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501" name="Google Shape;501;p16"/>
            <p:cNvSpPr txBox="1"/>
            <p:nvPr/>
          </p:nvSpPr>
          <p:spPr>
            <a:xfrm rot="5400000">
              <a:off x="2265177" y="5601729"/>
              <a:ext cx="432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Jul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502" name="Google Shape;502;p16"/>
            <p:cNvSpPr txBox="1"/>
            <p:nvPr/>
          </p:nvSpPr>
          <p:spPr>
            <a:xfrm rot="5400000">
              <a:off x="2730561" y="5601729"/>
              <a:ext cx="432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Aug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503" name="Google Shape;503;p16"/>
            <p:cNvSpPr txBox="1"/>
            <p:nvPr/>
          </p:nvSpPr>
          <p:spPr>
            <a:xfrm rot="5400000">
              <a:off x="1283708" y="5652431"/>
              <a:ext cx="53340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May '25</a:t>
              </a:r>
              <a:endParaRPr sz="900" b="0" i="0" u="none" strike="noStrike" cap="none">
                <a:solidFill>
                  <a:srgbClr val="3F3F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graphicFrame>
        <p:nvGraphicFramePr>
          <p:cNvPr id="504" name="Google Shape;504;p16"/>
          <p:cNvGraphicFramePr/>
          <p:nvPr/>
        </p:nvGraphicFramePr>
        <p:xfrm>
          <a:off x="2622550" y="1243013"/>
          <a:ext cx="6826250" cy="1479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05" name="Google Shape;505;p16"/>
          <p:cNvSpPr txBox="1"/>
          <p:nvPr/>
        </p:nvSpPr>
        <p:spPr>
          <a:xfrm>
            <a:off x="2574925" y="1860550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28%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06" name="Google Shape;506;p16"/>
          <p:cNvSpPr txBox="1"/>
          <p:nvPr/>
        </p:nvSpPr>
        <p:spPr>
          <a:xfrm>
            <a:off x="2487613" y="2682875"/>
            <a:ext cx="434975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Mar ’25</a:t>
            </a:r>
            <a:endParaRPr sz="10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07" name="Google Shape;507;p16"/>
          <p:cNvSpPr txBox="1"/>
          <p:nvPr/>
        </p:nvSpPr>
        <p:spPr>
          <a:xfrm>
            <a:off x="3906838" y="2368550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11%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08" name="Google Shape;508;p16"/>
          <p:cNvSpPr txBox="1"/>
          <p:nvPr/>
        </p:nvSpPr>
        <p:spPr>
          <a:xfrm>
            <a:off x="3830638" y="2682876"/>
            <a:ext cx="412750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Apr ’25</a:t>
            </a:r>
            <a:endParaRPr sz="10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09" name="Google Shape;509;p16"/>
          <p:cNvSpPr txBox="1"/>
          <p:nvPr/>
        </p:nvSpPr>
        <p:spPr>
          <a:xfrm>
            <a:off x="5270500" y="2428875"/>
            <a:ext cx="1968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9%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10" name="Google Shape;510;p16"/>
          <p:cNvSpPr txBox="1"/>
          <p:nvPr/>
        </p:nvSpPr>
        <p:spPr>
          <a:xfrm>
            <a:off x="5141913" y="2682876"/>
            <a:ext cx="455613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May ’25</a:t>
            </a:r>
            <a:endParaRPr sz="10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11" name="Google Shape;511;p16"/>
          <p:cNvSpPr txBox="1"/>
          <p:nvPr/>
        </p:nvSpPr>
        <p:spPr>
          <a:xfrm>
            <a:off x="6572250" y="1114425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53%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12" name="Google Shape;512;p16"/>
          <p:cNvSpPr txBox="1"/>
          <p:nvPr/>
        </p:nvSpPr>
        <p:spPr>
          <a:xfrm>
            <a:off x="6492875" y="2682876"/>
            <a:ext cx="419100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Jun ’25</a:t>
            </a:r>
            <a:endParaRPr sz="10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13" name="Google Shape;513;p16"/>
          <p:cNvSpPr txBox="1"/>
          <p:nvPr/>
        </p:nvSpPr>
        <p:spPr>
          <a:xfrm>
            <a:off x="7904163" y="1860550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28%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14" name="Google Shape;514;p16"/>
          <p:cNvSpPr txBox="1"/>
          <p:nvPr/>
        </p:nvSpPr>
        <p:spPr>
          <a:xfrm>
            <a:off x="7845426" y="2682875"/>
            <a:ext cx="377825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Jul ’25</a:t>
            </a:r>
            <a:endParaRPr sz="10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15" name="Google Shape;515;p16"/>
          <p:cNvSpPr txBox="1"/>
          <p:nvPr/>
        </p:nvSpPr>
        <p:spPr>
          <a:xfrm>
            <a:off x="9236075" y="2011363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23%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16" name="Google Shape;516;p16"/>
          <p:cNvSpPr txBox="1"/>
          <p:nvPr/>
        </p:nvSpPr>
        <p:spPr>
          <a:xfrm>
            <a:off x="9147174" y="2682876"/>
            <a:ext cx="439738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Aug ’25</a:t>
            </a:r>
            <a:endParaRPr sz="10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graphicFrame>
        <p:nvGraphicFramePr>
          <p:cNvPr id="517" name="Google Shape;517;p16"/>
          <p:cNvGraphicFramePr/>
          <p:nvPr/>
        </p:nvGraphicFramePr>
        <p:xfrm>
          <a:off x="2838450" y="4087813"/>
          <a:ext cx="1549400" cy="536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8" name="Google Shape;518;p16"/>
          <p:cNvSpPr txBox="1"/>
          <p:nvPr/>
        </p:nvSpPr>
        <p:spPr>
          <a:xfrm>
            <a:off x="2790825" y="4256088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20%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19" name="Google Shape;519;p16"/>
          <p:cNvSpPr txBox="1"/>
          <p:nvPr/>
        </p:nvSpPr>
        <p:spPr>
          <a:xfrm>
            <a:off x="3252788" y="4260850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19%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20" name="Google Shape;520;p16"/>
          <p:cNvSpPr txBox="1"/>
          <p:nvPr/>
        </p:nvSpPr>
        <p:spPr>
          <a:xfrm>
            <a:off x="3713163" y="4252913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21%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21" name="Google Shape;521;p16"/>
          <p:cNvSpPr txBox="1"/>
          <p:nvPr/>
        </p:nvSpPr>
        <p:spPr>
          <a:xfrm>
            <a:off x="4175125" y="4233863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26%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graphicFrame>
        <p:nvGraphicFramePr>
          <p:cNvPr id="522" name="Google Shape;522;p16"/>
          <p:cNvGraphicFramePr/>
          <p:nvPr/>
        </p:nvGraphicFramePr>
        <p:xfrm>
          <a:off x="2838450" y="4964113"/>
          <a:ext cx="1549400" cy="536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23" name="Google Shape;523;p16"/>
          <p:cNvSpPr txBox="1"/>
          <p:nvPr/>
        </p:nvSpPr>
        <p:spPr>
          <a:xfrm>
            <a:off x="2822575" y="5195888"/>
            <a:ext cx="1968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3%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24" name="Google Shape;524;p16"/>
          <p:cNvSpPr txBox="1"/>
          <p:nvPr/>
        </p:nvSpPr>
        <p:spPr>
          <a:xfrm>
            <a:off x="3252788" y="4913313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79%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25" name="Google Shape;525;p16"/>
          <p:cNvSpPr txBox="1"/>
          <p:nvPr/>
        </p:nvSpPr>
        <p:spPr>
          <a:xfrm>
            <a:off x="3713163" y="5021263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50%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26" name="Google Shape;526;p16"/>
          <p:cNvSpPr txBox="1"/>
          <p:nvPr/>
        </p:nvSpPr>
        <p:spPr>
          <a:xfrm>
            <a:off x="4175125" y="5102225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28%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graphicFrame>
        <p:nvGraphicFramePr>
          <p:cNvPr id="527" name="Google Shape;527;p16"/>
          <p:cNvGraphicFramePr/>
          <p:nvPr/>
        </p:nvGraphicFramePr>
        <p:xfrm>
          <a:off x="5235575" y="4964113"/>
          <a:ext cx="1549400" cy="536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28" name="Google Shape;528;p16"/>
          <p:cNvSpPr txBox="1"/>
          <p:nvPr/>
        </p:nvSpPr>
        <p:spPr>
          <a:xfrm>
            <a:off x="5187950" y="5148263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16%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29" name="Google Shape;529;p16"/>
          <p:cNvSpPr txBox="1"/>
          <p:nvPr/>
        </p:nvSpPr>
        <p:spPr>
          <a:xfrm>
            <a:off x="5649913" y="5148263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16%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30" name="Google Shape;530;p16"/>
          <p:cNvSpPr txBox="1"/>
          <p:nvPr/>
        </p:nvSpPr>
        <p:spPr>
          <a:xfrm>
            <a:off x="6110288" y="5159375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13%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31" name="Google Shape;531;p16"/>
          <p:cNvSpPr txBox="1"/>
          <p:nvPr/>
        </p:nvSpPr>
        <p:spPr>
          <a:xfrm>
            <a:off x="6572250" y="5151438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15%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graphicFrame>
        <p:nvGraphicFramePr>
          <p:cNvPr id="532" name="Google Shape;532;p16"/>
          <p:cNvGraphicFramePr/>
          <p:nvPr/>
        </p:nvGraphicFramePr>
        <p:xfrm>
          <a:off x="5235575" y="4087813"/>
          <a:ext cx="1549400" cy="536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33" name="Google Shape;533;p16"/>
          <p:cNvSpPr txBox="1"/>
          <p:nvPr/>
        </p:nvSpPr>
        <p:spPr>
          <a:xfrm>
            <a:off x="5187950" y="4278313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14%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34" name="Google Shape;534;p16"/>
          <p:cNvSpPr txBox="1"/>
          <p:nvPr/>
        </p:nvSpPr>
        <p:spPr>
          <a:xfrm>
            <a:off x="5649913" y="4278313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14%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35" name="Google Shape;535;p16"/>
          <p:cNvSpPr txBox="1"/>
          <p:nvPr/>
        </p:nvSpPr>
        <p:spPr>
          <a:xfrm>
            <a:off x="6110288" y="4275138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15%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36" name="Google Shape;536;p16"/>
          <p:cNvSpPr txBox="1"/>
          <p:nvPr/>
        </p:nvSpPr>
        <p:spPr>
          <a:xfrm>
            <a:off x="6572250" y="4256088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20%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graphicFrame>
        <p:nvGraphicFramePr>
          <p:cNvPr id="537" name="Google Shape;537;p16"/>
          <p:cNvGraphicFramePr/>
          <p:nvPr/>
        </p:nvGraphicFramePr>
        <p:xfrm>
          <a:off x="7632700" y="4087813"/>
          <a:ext cx="1550988" cy="536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38" name="Google Shape;538;p16"/>
          <p:cNvSpPr txBox="1"/>
          <p:nvPr/>
        </p:nvSpPr>
        <p:spPr>
          <a:xfrm>
            <a:off x="7585075" y="4278313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14%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39" name="Google Shape;539;p16"/>
          <p:cNvSpPr txBox="1"/>
          <p:nvPr/>
        </p:nvSpPr>
        <p:spPr>
          <a:xfrm>
            <a:off x="8047038" y="4294188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10%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40" name="Google Shape;540;p16"/>
          <p:cNvSpPr txBox="1"/>
          <p:nvPr/>
        </p:nvSpPr>
        <p:spPr>
          <a:xfrm>
            <a:off x="8540750" y="4305300"/>
            <a:ext cx="1968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7%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41" name="Google Shape;541;p16"/>
          <p:cNvSpPr txBox="1"/>
          <p:nvPr/>
        </p:nvSpPr>
        <p:spPr>
          <a:xfrm>
            <a:off x="8970963" y="4271963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16%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graphicFrame>
        <p:nvGraphicFramePr>
          <p:cNvPr id="542" name="Google Shape;542;p16"/>
          <p:cNvGraphicFramePr/>
          <p:nvPr/>
        </p:nvGraphicFramePr>
        <p:xfrm>
          <a:off x="7632700" y="4964113"/>
          <a:ext cx="1550988" cy="536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43" name="Google Shape;543;p16"/>
          <p:cNvSpPr txBox="1"/>
          <p:nvPr/>
        </p:nvSpPr>
        <p:spPr>
          <a:xfrm>
            <a:off x="7585075" y="5159375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13%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44" name="Google Shape;544;p16"/>
          <p:cNvSpPr txBox="1"/>
          <p:nvPr/>
        </p:nvSpPr>
        <p:spPr>
          <a:xfrm>
            <a:off x="8078788" y="5181600"/>
            <a:ext cx="1968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7%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45" name="Google Shape;545;p16"/>
          <p:cNvSpPr txBox="1"/>
          <p:nvPr/>
        </p:nvSpPr>
        <p:spPr>
          <a:xfrm>
            <a:off x="8509000" y="5159375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13%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46" name="Google Shape;546;p16"/>
          <p:cNvSpPr txBox="1"/>
          <p:nvPr/>
        </p:nvSpPr>
        <p:spPr>
          <a:xfrm>
            <a:off x="9002713" y="5176838"/>
            <a:ext cx="1968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8%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grpSp>
        <p:nvGrpSpPr>
          <p:cNvPr id="547" name="Google Shape;547;p16"/>
          <p:cNvGrpSpPr/>
          <p:nvPr/>
        </p:nvGrpSpPr>
        <p:grpSpPr>
          <a:xfrm>
            <a:off x="2846388" y="5589564"/>
            <a:ext cx="1533525" cy="533400"/>
            <a:chOff x="1481159" y="5454979"/>
            <a:chExt cx="1534652" cy="533402"/>
          </a:xfrm>
        </p:grpSpPr>
        <p:sp>
          <p:nvSpPr>
            <p:cNvPr id="548" name="Google Shape;548;p16"/>
            <p:cNvSpPr txBox="1"/>
            <p:nvPr/>
          </p:nvSpPr>
          <p:spPr>
            <a:xfrm rot="5400000">
              <a:off x="1799793" y="5601730"/>
              <a:ext cx="432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Jun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549" name="Google Shape;549;p16"/>
            <p:cNvSpPr txBox="1"/>
            <p:nvPr/>
          </p:nvSpPr>
          <p:spPr>
            <a:xfrm rot="5400000">
              <a:off x="2265177" y="5601729"/>
              <a:ext cx="432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Jul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550" name="Google Shape;550;p16"/>
            <p:cNvSpPr txBox="1"/>
            <p:nvPr/>
          </p:nvSpPr>
          <p:spPr>
            <a:xfrm rot="5400000">
              <a:off x="2730561" y="5601729"/>
              <a:ext cx="432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Aug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551" name="Google Shape;551;p16"/>
            <p:cNvSpPr txBox="1"/>
            <p:nvPr/>
          </p:nvSpPr>
          <p:spPr>
            <a:xfrm rot="5400000">
              <a:off x="1283708" y="5652431"/>
              <a:ext cx="53340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May '25</a:t>
              </a:r>
              <a:endParaRPr sz="900" b="0" i="0" u="none" strike="noStrike" cap="none">
                <a:solidFill>
                  <a:srgbClr val="3F3F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3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3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</Words>
  <Application>WPS 演示</Application>
  <PresentationFormat/>
  <Paragraphs>114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Arial</vt:lpstr>
      <vt:lpstr>Roboto</vt:lpstr>
      <vt:lpstr>Helvetica Neue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Roboto</vt:lpstr>
      <vt:lpstr>4_Office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Del Grosso</dc:creator>
  <cp:lastModifiedBy>肖景海</cp:lastModifiedBy>
  <cp:revision>4</cp:revision>
  <dcterms:created xsi:type="dcterms:W3CDTF">2025-11-03T18:40:26Z</dcterms:created>
  <dcterms:modified xsi:type="dcterms:W3CDTF">2025-11-03T18:40:26Z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0A8DF3888572DA0198090569B9659D2E_42</vt:lpwstr>
  </property>
  <property fmtid="{D5CDD505-2E9C-101B-9397-08002B2CF9AE}" pid="3" name="KSOProductBuildVer">
    <vt:lpwstr>2052-12.1.23540.23540</vt:lpwstr>
  </property>
</Properties>
</file>